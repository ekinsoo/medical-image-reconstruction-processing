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2" d="100"/>
          <a:sy n="82" d="100"/>
        </p:scale>
        <p:origin x="3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8DFC17-ACB7-4386-9CDB-42E0D6980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2512BD-ADEA-4A18-B88D-0AFAC1AB3F79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57150" cy="10668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991F8-372F-49E4-8EC4-33DBD0B10C7A}"/>
              </a:ext>
            </a:extLst>
          </p:cNvPr>
          <p:cNvSpPr>
            <a:spLocks noGrp="1"/>
          </p:cNvSpPr>
          <p:nvPr/>
        </p:nvSpPr>
        <p:spPr>
          <a:xfrm>
            <a:off x="838200" y="704850"/>
            <a:ext cx="609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9C9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C9B9"/>
                </a:solidFill>
                <a:latin typeface="Aptos"/>
                <a:ea typeface="Aptos"/>
                <a:cs typeface="Aptos"/>
              </a:rPr>
              <a:t>EEE 475/575 Medical Image Reconstruction and 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35A4F3-77D4-4CF3-B237-75FC0435D83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80962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ReconFormer for Accelerated MRI Reconstruction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3C099-61BF-49AA-BBC1-402D555D8DA5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647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9C9B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C9B9"/>
                </a:solidFill>
                <a:latin typeface="Aptos"/>
                <a:ea typeface="Aptos"/>
                <a:cs typeface="Aptos"/>
              </a:rPr>
              <a:t>Evaluation on the fastMRI single-coil knee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F5DF52-3E3F-409B-BBCE-0FE5A2806570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5810250" cy="13335"/>
          </a:xfrm>
          <a:prstGeom prst="rect">
            <a:avLst/>
          </a:prstGeom>
          <a:solidFill>
            <a:srgbClr val="D9C9B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3FA8AA-EECE-46EF-BD2F-4B37142FDD93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5334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Burcu Köprülü</a:t>
            </a:r>
          </a:p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Muhammet Talat Yavuz</a:t>
            </a:r>
          </a:p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Özgür Ekin Sönmez</a:t>
            </a:r>
          </a:p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Eylül Naz Berçin</a:t>
            </a:r>
          </a:p>
        </p:txBody>
      </p:sp>
    </p:spTree>
    <p:extLst>
      <p:ext uri="{BB962C8B-B14F-4D97-AF65-F5344CB8AC3E}">
        <p14:creationId xmlns:p14="http://schemas.microsoft.com/office/powerpoint/2010/main" val="207130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9BF3BD6-201C-45BB-A911-5612087B6B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2B155-A8EE-4EAB-921B-26FE362CC2A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BACKGROUND AND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7ED0D1-CCC9-42E7-8D30-FBD8AD5DEEEC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3CB1BE-6A49-47E9-98B0-6EF711738DE1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Why accelerated MRI reconstruction matters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BA5FA-AB5E-484E-8F2E-E57FE8AD70B2}"/>
              </a:ext>
            </a:extLst>
          </p:cNvPr>
          <p:cNvSpPr>
            <a:spLocks noGrp="1"/>
          </p:cNvSpPr>
          <p:nvPr/>
        </p:nvSpPr>
        <p:spPr>
          <a:xfrm>
            <a:off x="723900" y="19335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4BA144-E3DC-4BDE-811B-B1FD182D3B9E}"/>
              </a:ext>
            </a:extLst>
          </p:cNvPr>
          <p:cNvSpPr>
            <a:spLocks noGrp="1"/>
          </p:cNvSpPr>
          <p:nvPr/>
        </p:nvSpPr>
        <p:spPr>
          <a:xfrm>
            <a:off x="952500" y="1866900"/>
            <a:ext cx="5105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MRI scanners acquire frequency-domain measurements, not direct image pixels.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63E53-0B42-4C81-8068-D90E1CD38FF2}"/>
              </a:ext>
            </a:extLst>
          </p:cNvPr>
          <p:cNvSpPr>
            <a:spLocks noGrp="1"/>
          </p:cNvSpPr>
          <p:nvPr/>
        </p:nvSpPr>
        <p:spPr>
          <a:xfrm>
            <a:off x="723900" y="24669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91DC0-08E2-4F16-B687-BD580E9E88B0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5105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These measurements live in k-space and are collected sequentially.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2D883B-C322-4F7B-9D46-188BFA368AD0}"/>
              </a:ext>
            </a:extLst>
          </p:cNvPr>
          <p:cNvSpPr>
            <a:spLocks noGrp="1"/>
          </p:cNvSpPr>
          <p:nvPr/>
        </p:nvSpPr>
        <p:spPr>
          <a:xfrm>
            <a:off x="723900" y="30003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0F770-62F4-4A94-B3DF-EE2DD3FB73D2}"/>
              </a:ext>
            </a:extLst>
          </p:cNvPr>
          <p:cNvSpPr>
            <a:spLocks noGrp="1"/>
          </p:cNvSpPr>
          <p:nvPr/>
        </p:nvSpPr>
        <p:spPr>
          <a:xfrm>
            <a:off x="952500" y="2933700"/>
            <a:ext cx="5105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Under-sampling k-space shortens acquisition time but removes information.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34FAD9-AC2E-413F-84A2-1A2889250145}"/>
              </a:ext>
            </a:extLst>
          </p:cNvPr>
          <p:cNvSpPr>
            <a:spLocks noGrp="1"/>
          </p:cNvSpPr>
          <p:nvPr/>
        </p:nvSpPr>
        <p:spPr>
          <a:xfrm>
            <a:off x="723900" y="35337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5EDE39-6347-4BCA-B468-D83EC08A0019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5105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reconstruction task is to recover a high-quality image from incomplete data.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E8AFD-CEE5-4FB7-BA8A-4A88192814C3}"/>
              </a:ext>
            </a:extLst>
          </p:cNvPr>
          <p:cNvSpPr>
            <a:spLocks noGrp="1"/>
          </p:cNvSpPr>
          <p:nvPr/>
        </p:nvSpPr>
        <p:spPr>
          <a:xfrm>
            <a:off x="6496050" y="2133600"/>
            <a:ext cx="1162050" cy="857250"/>
          </a:xfrm>
          <a:prstGeom prst="rect">
            <a:avLst/>
          </a:prstGeom>
          <a:solidFill>
            <a:srgbClr val="DFE7F3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C46604-2C2D-4C9A-9A2F-425B5B6773D8}"/>
              </a:ext>
            </a:extLst>
          </p:cNvPr>
          <p:cNvSpPr>
            <a:spLocks noGrp="1"/>
          </p:cNvSpPr>
          <p:nvPr/>
        </p:nvSpPr>
        <p:spPr>
          <a:xfrm>
            <a:off x="6629400" y="2324100"/>
            <a:ext cx="895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k-space acquisition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ACC7D1-B058-4493-8F28-40614EACE68A}"/>
              </a:ext>
            </a:extLst>
          </p:cNvPr>
          <p:cNvSpPr>
            <a:spLocks noGrp="1"/>
          </p:cNvSpPr>
          <p:nvPr/>
        </p:nvSpPr>
        <p:spPr>
          <a:xfrm>
            <a:off x="7696200" y="2371725"/>
            <a:ext cx="13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D17527-ED4C-45EA-8BDD-8F5825EB142F}"/>
              </a:ext>
            </a:extLst>
          </p:cNvPr>
          <p:cNvSpPr>
            <a:spLocks noGrp="1"/>
          </p:cNvSpPr>
          <p:nvPr/>
        </p:nvSpPr>
        <p:spPr>
          <a:xfrm>
            <a:off x="7867650" y="2133600"/>
            <a:ext cx="1162050" cy="857250"/>
          </a:xfrm>
          <a:prstGeom prst="rect">
            <a:avLst/>
          </a:prstGeom>
          <a:solidFill>
            <a:srgbClr val="DCEDEA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2A359F-681B-4053-BA20-3D1935581107}"/>
              </a:ext>
            </a:extLst>
          </p:cNvPr>
          <p:cNvSpPr>
            <a:spLocks noGrp="1"/>
          </p:cNvSpPr>
          <p:nvPr/>
        </p:nvSpPr>
        <p:spPr>
          <a:xfrm>
            <a:off x="8001000" y="2324100"/>
            <a:ext cx="895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fewer samples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D8977-E9CB-4A92-8976-F319252465F5}"/>
              </a:ext>
            </a:extLst>
          </p:cNvPr>
          <p:cNvSpPr>
            <a:spLocks noGrp="1"/>
          </p:cNvSpPr>
          <p:nvPr/>
        </p:nvSpPr>
        <p:spPr>
          <a:xfrm>
            <a:off x="9067800" y="2371725"/>
            <a:ext cx="13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DCD15F-EAF6-4A58-A547-90F1277D6432}"/>
              </a:ext>
            </a:extLst>
          </p:cNvPr>
          <p:cNvSpPr>
            <a:spLocks noGrp="1"/>
          </p:cNvSpPr>
          <p:nvPr/>
        </p:nvSpPr>
        <p:spPr>
          <a:xfrm>
            <a:off x="9239250" y="2133600"/>
            <a:ext cx="1162050" cy="857250"/>
          </a:xfrm>
          <a:prstGeom prst="rect">
            <a:avLst/>
          </a:prstGeom>
          <a:solidFill>
            <a:srgbClr val="F1DEC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582F19-BA8A-44B3-9E58-9FEF4C4F88A8}"/>
              </a:ext>
            </a:extLst>
          </p:cNvPr>
          <p:cNvSpPr>
            <a:spLocks noGrp="1"/>
          </p:cNvSpPr>
          <p:nvPr/>
        </p:nvSpPr>
        <p:spPr>
          <a:xfrm>
            <a:off x="9372600" y="2324100"/>
            <a:ext cx="895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image reconstruction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21D6E8-52D7-4C4A-9455-FE8F53A1F011}"/>
              </a:ext>
            </a:extLst>
          </p:cNvPr>
          <p:cNvSpPr>
            <a:spLocks noGrp="1"/>
          </p:cNvSpPr>
          <p:nvPr/>
        </p:nvSpPr>
        <p:spPr>
          <a:xfrm>
            <a:off x="6705600" y="3486150"/>
            <a:ext cx="1619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5D828E-27C7-4805-AE6F-74003A09FA1B}"/>
              </a:ext>
            </a:extLst>
          </p:cNvPr>
          <p:cNvSpPr>
            <a:spLocks noGrp="1"/>
          </p:cNvSpPr>
          <p:nvPr/>
        </p:nvSpPr>
        <p:spPr>
          <a:xfrm>
            <a:off x="6858000" y="365760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AF=4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91221B-8E88-4E09-9651-E25C2495ABBF}"/>
              </a:ext>
            </a:extLst>
          </p:cNvPr>
          <p:cNvSpPr>
            <a:spLocks noGrp="1"/>
          </p:cNvSpPr>
          <p:nvPr/>
        </p:nvSpPr>
        <p:spPr>
          <a:xfrm>
            <a:off x="6858000" y="405765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moderate acceleration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10D30C-E162-4249-A514-440DA6CD436E}"/>
              </a:ext>
            </a:extLst>
          </p:cNvPr>
          <p:cNvSpPr>
            <a:spLocks noGrp="1"/>
          </p:cNvSpPr>
          <p:nvPr/>
        </p:nvSpPr>
        <p:spPr>
          <a:xfrm>
            <a:off x="8591550" y="3486150"/>
            <a:ext cx="1809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C4CFD9-FD89-4A79-BB06-B6324B88E403}"/>
              </a:ext>
            </a:extLst>
          </p:cNvPr>
          <p:cNvSpPr>
            <a:spLocks noGrp="1"/>
          </p:cNvSpPr>
          <p:nvPr/>
        </p:nvSpPr>
        <p:spPr>
          <a:xfrm>
            <a:off x="8743950" y="36576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AF=8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F209FB-8DC4-4331-8B7E-C9BF3DB083AA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more aggressive under-sampling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A8132E-E53C-4194-A2C3-E50389846B45}"/>
              </a:ext>
            </a:extLst>
          </p:cNvPr>
          <p:cNvSpPr>
            <a:spLocks noGrp="1"/>
          </p:cNvSpPr>
          <p:nvPr/>
        </p:nvSpPr>
        <p:spPr>
          <a:xfrm>
            <a:off x="6705600" y="4743450"/>
            <a:ext cx="3695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Higher acceleration means fewer acquired measurements for the same image.</a:t>
            </a:r>
          </a:p>
        </p:txBody>
      </p:sp>
    </p:spTree>
    <p:extLst>
      <p:ext uri="{BB962C8B-B14F-4D97-AF65-F5344CB8AC3E}">
        <p14:creationId xmlns:p14="http://schemas.microsoft.com/office/powerpoint/2010/main" val="1580238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1D983F-E11B-4828-8C16-151BEFF99D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2A3CB7-B0F8-4A41-AD19-9C5D3E35875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BACKGROUND AND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6D2F99-5775-423E-8762-FBCC4AF70B42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81E19D-9D70-44DA-928D-89011C8BD9FF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Under-sampling makes the inverse problem ill-posed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45F0D-DFCC-4345-9927-FC7B168D4DF3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095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A32217-0A6A-4911-B1E6-9EBEBFA3E6AC}"/>
              </a:ext>
            </a:extLst>
          </p:cNvPr>
          <p:cNvSpPr>
            <a:spLocks noGrp="1"/>
          </p:cNvSpPr>
          <p:nvPr/>
        </p:nvSpPr>
        <p:spPr>
          <a:xfrm>
            <a:off x="971550" y="1905000"/>
            <a:ext cx="3714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y = P F x + 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16040D-9D3D-414B-A446-21E6414D8285}"/>
              </a:ext>
            </a:extLst>
          </p:cNvPr>
          <p:cNvSpPr>
            <a:spLocks noGrp="1"/>
          </p:cNvSpPr>
          <p:nvPr/>
        </p:nvSpPr>
        <p:spPr>
          <a:xfrm>
            <a:off x="895350" y="30956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8ECA95-72D7-4194-9B83-31E79CE01D20}"/>
              </a:ext>
            </a:extLst>
          </p:cNvPr>
          <p:cNvSpPr>
            <a:spLocks noGrp="1"/>
          </p:cNvSpPr>
          <p:nvPr/>
        </p:nvSpPr>
        <p:spPr>
          <a:xfrm>
            <a:off x="1123950" y="3028950"/>
            <a:ext cx="3676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x: desired MR 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AA5C0-985B-44D2-87D5-41835161D16B}"/>
              </a:ext>
            </a:extLst>
          </p:cNvPr>
          <p:cNvSpPr>
            <a:spLocks noGrp="1"/>
          </p:cNvSpPr>
          <p:nvPr/>
        </p:nvSpPr>
        <p:spPr>
          <a:xfrm>
            <a:off x="895350" y="35337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BDF97-C4BF-4CF0-8869-A4A854603686}"/>
              </a:ext>
            </a:extLst>
          </p:cNvPr>
          <p:cNvSpPr>
            <a:spLocks noGrp="1"/>
          </p:cNvSpPr>
          <p:nvPr/>
        </p:nvSpPr>
        <p:spPr>
          <a:xfrm>
            <a:off x="1123950" y="3467100"/>
            <a:ext cx="3676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F: Fourier transform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31D8D1-8636-4BE2-A558-7ECB1657DD0C}"/>
              </a:ext>
            </a:extLst>
          </p:cNvPr>
          <p:cNvSpPr>
            <a:spLocks noGrp="1"/>
          </p:cNvSpPr>
          <p:nvPr/>
        </p:nvSpPr>
        <p:spPr>
          <a:xfrm>
            <a:off x="895350" y="39719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2182E-7418-4592-AFB4-F072F251A71A}"/>
              </a:ext>
            </a:extLst>
          </p:cNvPr>
          <p:cNvSpPr>
            <a:spLocks noGrp="1"/>
          </p:cNvSpPr>
          <p:nvPr/>
        </p:nvSpPr>
        <p:spPr>
          <a:xfrm>
            <a:off x="1123950" y="3905250"/>
            <a:ext cx="3676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P: under-sampling mask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12E5E-9647-4458-98EE-2748FEE845D3}"/>
              </a:ext>
            </a:extLst>
          </p:cNvPr>
          <p:cNvSpPr>
            <a:spLocks noGrp="1"/>
          </p:cNvSpPr>
          <p:nvPr/>
        </p:nvSpPr>
        <p:spPr>
          <a:xfrm>
            <a:off x="895350" y="44100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712ED5-A292-4017-A493-78D2A5313DB5}"/>
              </a:ext>
            </a:extLst>
          </p:cNvPr>
          <p:cNvSpPr>
            <a:spLocks noGrp="1"/>
          </p:cNvSpPr>
          <p:nvPr/>
        </p:nvSpPr>
        <p:spPr>
          <a:xfrm>
            <a:off x="1123950" y="4343400"/>
            <a:ext cx="3676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y: measured k-space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DBBBDD-BCB3-4FAF-BCBE-5C0568D60EC3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457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Because only part of k-space is measured, multiple images can be consistent with the same acquired data.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B62C96-F0B9-427B-A10F-7816AB3E4B36}"/>
              </a:ext>
            </a:extLst>
          </p:cNvPr>
          <p:cNvSpPr>
            <a:spLocks noGrp="1"/>
          </p:cNvSpPr>
          <p:nvPr/>
        </p:nvSpPr>
        <p:spPr>
          <a:xfrm>
            <a:off x="6248400" y="1752600"/>
            <a:ext cx="390525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83332" y="1847850"/>
            <a:ext cx="2635387" cy="28003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9406A0A-50FD-43B8-9A15-D8FBB0A3989A}"/>
              </a:ext>
            </a:extLst>
          </p:cNvPr>
          <p:cNvSpPr>
            <a:spLocks noGrp="1"/>
          </p:cNvSpPr>
          <p:nvPr/>
        </p:nvSpPr>
        <p:spPr>
          <a:xfrm>
            <a:off x="6362700" y="4705350"/>
            <a:ext cx="3676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Zero-filled reconstruction: artifacts from missing k-space</a:t>
            </a:r>
          </a:p>
        </p:txBody>
      </p:sp>
    </p:spTree>
    <p:extLst>
      <p:ext uri="{BB962C8B-B14F-4D97-AF65-F5344CB8AC3E}">
        <p14:creationId xmlns:p14="http://schemas.microsoft.com/office/powerpoint/2010/main" val="64844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23F1210-9754-4CC4-9D81-3641043860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4C9B42-F799-48D5-8A44-C433E68FFAEF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BACKGROUND AND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9B26E6-4180-4255-B4E1-B76CD98A3DB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F6B66A-83EF-4AF3-908B-8776070FA1B5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Reconstruction combines measurement fidelity with prior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FAD245-4C83-4AAF-9A4B-64B80656C7BB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59055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0AC46-77AA-4008-8D6B-C1F014C57AE3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5524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3A5DA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3A5DA8"/>
                </a:solidFill>
                <a:latin typeface="Georgia"/>
                <a:ea typeface="Georgia"/>
                <a:cs typeface="Georgia"/>
              </a:rPr>
              <a:t>x* = arg min || P F x - y ||² + λ R(x)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A3EC1-11F3-4C15-884F-0B62CD48C071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4095750" cy="1238250"/>
          </a:xfrm>
          <a:prstGeom prst="rect">
            <a:avLst/>
          </a:prstGeom>
          <a:solidFill>
            <a:srgbClr val="DFE7F3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3ED95C-912A-46C7-9612-5A8FF6677A01}"/>
              </a:ext>
            </a:extLst>
          </p:cNvPr>
          <p:cNvSpPr>
            <a:spLocks noGrp="1"/>
          </p:cNvSpPr>
          <p:nvPr/>
        </p:nvSpPr>
        <p:spPr>
          <a:xfrm>
            <a:off x="1200150" y="3505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A5D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A5DA8"/>
                </a:solidFill>
                <a:latin typeface="Aptos"/>
                <a:ea typeface="Aptos"/>
                <a:cs typeface="Aptos"/>
              </a:rPr>
              <a:t>Data fidelity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F56170-3BBD-4955-A4AF-4B5F6631EB1B}"/>
              </a:ext>
            </a:extLst>
          </p:cNvPr>
          <p:cNvSpPr>
            <a:spLocks noGrp="1"/>
          </p:cNvSpPr>
          <p:nvPr/>
        </p:nvSpPr>
        <p:spPr>
          <a:xfrm>
            <a:off x="1200150" y="3905250"/>
            <a:ext cx="3333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Keeps the reconstruction consistent with the k-space samples that were actually acquired.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9B523-567D-4162-8895-D80B08236BA2}"/>
              </a:ext>
            </a:extLst>
          </p:cNvPr>
          <p:cNvSpPr>
            <a:spLocks noGrp="1"/>
          </p:cNvSpPr>
          <p:nvPr/>
        </p:nvSpPr>
        <p:spPr>
          <a:xfrm>
            <a:off x="5734050" y="3238500"/>
            <a:ext cx="4095750" cy="1238250"/>
          </a:xfrm>
          <a:prstGeom prst="rect">
            <a:avLst/>
          </a:prstGeom>
          <a:solidFill>
            <a:srgbClr val="E5EAD9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B36582-7DD8-480F-AF69-62E82ED689CF}"/>
              </a:ext>
            </a:extLst>
          </p:cNvPr>
          <p:cNvSpPr>
            <a:spLocks noGrp="1"/>
          </p:cNvSpPr>
          <p:nvPr/>
        </p:nvSpPr>
        <p:spPr>
          <a:xfrm>
            <a:off x="5981700" y="35052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D84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845A"/>
                </a:solidFill>
                <a:latin typeface="Aptos"/>
                <a:ea typeface="Aptos"/>
                <a:cs typeface="Aptos"/>
              </a:rPr>
              <a:t>Image prior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559530-1C26-4D1C-8BC5-4596F0EEBA47}"/>
              </a:ext>
            </a:extLst>
          </p:cNvPr>
          <p:cNvSpPr>
            <a:spLocks noGrp="1"/>
          </p:cNvSpPr>
          <p:nvPr/>
        </p:nvSpPr>
        <p:spPr>
          <a:xfrm>
            <a:off x="5981700" y="3905250"/>
            <a:ext cx="3333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Classical methods encode assumptions such as sparsity; learned methods estimate this prior from data.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21D0C2-4DE2-4392-99C2-C34ADCA18CDF}"/>
              </a:ext>
            </a:extLst>
          </p:cNvPr>
          <p:cNvSpPr>
            <a:spLocks noGrp="1"/>
          </p:cNvSpPr>
          <p:nvPr/>
        </p:nvSpPr>
        <p:spPr>
          <a:xfrm>
            <a:off x="1123950" y="50958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1624A5-CD57-412C-9906-333D1E4D139E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8534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ReconFormer follows this learned reconstruction framework.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27248A-61F0-4FEC-BE10-35BEDEAC2A08}"/>
              </a:ext>
            </a:extLst>
          </p:cNvPr>
          <p:cNvSpPr>
            <a:spLocks noGrp="1"/>
          </p:cNvSpPr>
          <p:nvPr/>
        </p:nvSpPr>
        <p:spPr>
          <a:xfrm>
            <a:off x="1123950" y="549592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C7B73F-35A9-4598-B04F-962E0142829C}"/>
              </a:ext>
            </a:extLst>
          </p:cNvPr>
          <p:cNvSpPr>
            <a:spLocks noGrp="1"/>
          </p:cNvSpPr>
          <p:nvPr/>
        </p:nvSpPr>
        <p:spPr>
          <a:xfrm>
            <a:off x="1352550" y="5429250"/>
            <a:ext cx="8534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model estimates missing information while data consistency protects measured samples.</a:t>
            </a:r>
          </a:p>
        </p:txBody>
      </p:sp>
    </p:spTree>
    <p:extLst>
      <p:ext uri="{BB962C8B-B14F-4D97-AF65-F5344CB8AC3E}">
        <p14:creationId xmlns:p14="http://schemas.microsoft.com/office/powerpoint/2010/main" val="1656500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A3E6884-12BF-4B3E-841F-BB689EDC86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69A30A-C0F9-4376-9E7B-35E89DD97CE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BACKGROUND AND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8495C-270D-42E9-B816-D58B72FD0D9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C3D886-E694-4772-8A45-E27A4165E185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Data consistency grounds the neural reconstruction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030892-C29A-4D35-8515-3DC1041D4AE1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2033588" cy="857250"/>
          </a:xfrm>
          <a:prstGeom prst="rect">
            <a:avLst/>
          </a:prstGeom>
          <a:solidFill>
            <a:srgbClr val="DFE7F3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697B36-6F1E-4279-8581-981861B883F0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1766888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network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09D1D-B819-4370-918A-E5BFEE94C51C}"/>
              </a:ext>
            </a:extLst>
          </p:cNvPr>
          <p:cNvSpPr>
            <a:spLocks noGrp="1"/>
          </p:cNvSpPr>
          <p:nvPr/>
        </p:nvSpPr>
        <p:spPr>
          <a:xfrm>
            <a:off x="2852738" y="2162175"/>
            <a:ext cx="13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25388-9D03-442B-8CC0-DA9159222DC5}"/>
              </a:ext>
            </a:extLst>
          </p:cNvPr>
          <p:cNvSpPr>
            <a:spLocks noGrp="1"/>
          </p:cNvSpPr>
          <p:nvPr/>
        </p:nvSpPr>
        <p:spPr>
          <a:xfrm>
            <a:off x="3024188" y="1924050"/>
            <a:ext cx="2033588" cy="857250"/>
          </a:xfrm>
          <a:prstGeom prst="rect">
            <a:avLst/>
          </a:prstGeom>
          <a:solidFill>
            <a:srgbClr val="DCEDEA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4A3A82-BDDE-432A-8DC6-AC1ECC5FBFC3}"/>
              </a:ext>
            </a:extLst>
          </p:cNvPr>
          <p:cNvSpPr>
            <a:spLocks noGrp="1"/>
          </p:cNvSpPr>
          <p:nvPr/>
        </p:nvSpPr>
        <p:spPr>
          <a:xfrm>
            <a:off x="3157538" y="2114550"/>
            <a:ext cx="1766888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Fourier transform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1EEA92-FABB-4B03-8714-E0AE6D29C2AE}"/>
              </a:ext>
            </a:extLst>
          </p:cNvPr>
          <p:cNvSpPr>
            <a:spLocks noGrp="1"/>
          </p:cNvSpPr>
          <p:nvPr/>
        </p:nvSpPr>
        <p:spPr>
          <a:xfrm>
            <a:off x="5095875" y="2162175"/>
            <a:ext cx="13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925EB-82E9-4536-AF15-BEF9BEB8218F}"/>
              </a:ext>
            </a:extLst>
          </p:cNvPr>
          <p:cNvSpPr>
            <a:spLocks noGrp="1"/>
          </p:cNvSpPr>
          <p:nvPr/>
        </p:nvSpPr>
        <p:spPr>
          <a:xfrm>
            <a:off x="5267325" y="1924050"/>
            <a:ext cx="2033588" cy="857250"/>
          </a:xfrm>
          <a:prstGeom prst="rect">
            <a:avLst/>
          </a:prstGeom>
          <a:solidFill>
            <a:srgbClr val="F1DEC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02EB03-63F3-428C-ADE3-D9237858ACCC}"/>
              </a:ext>
            </a:extLst>
          </p:cNvPr>
          <p:cNvSpPr>
            <a:spLocks noGrp="1"/>
          </p:cNvSpPr>
          <p:nvPr/>
        </p:nvSpPr>
        <p:spPr>
          <a:xfrm>
            <a:off x="5400675" y="2114550"/>
            <a:ext cx="1766888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replace measured samples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6CB24-299C-4C00-917B-608731D50B37}"/>
              </a:ext>
            </a:extLst>
          </p:cNvPr>
          <p:cNvSpPr>
            <a:spLocks noGrp="1"/>
          </p:cNvSpPr>
          <p:nvPr/>
        </p:nvSpPr>
        <p:spPr>
          <a:xfrm>
            <a:off x="7339013" y="2162175"/>
            <a:ext cx="13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B28414-D919-4057-880F-8B9525ECE3D9}"/>
              </a:ext>
            </a:extLst>
          </p:cNvPr>
          <p:cNvSpPr>
            <a:spLocks noGrp="1"/>
          </p:cNvSpPr>
          <p:nvPr/>
        </p:nvSpPr>
        <p:spPr>
          <a:xfrm>
            <a:off x="7510463" y="1924050"/>
            <a:ext cx="2033588" cy="857250"/>
          </a:xfrm>
          <a:prstGeom prst="rect">
            <a:avLst/>
          </a:prstGeom>
          <a:solidFill>
            <a:srgbClr val="DFE7F3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99BD8-5F58-4B2A-8198-783BE6C77CB9}"/>
              </a:ext>
            </a:extLst>
          </p:cNvPr>
          <p:cNvSpPr>
            <a:spLocks noGrp="1"/>
          </p:cNvSpPr>
          <p:nvPr/>
        </p:nvSpPr>
        <p:spPr>
          <a:xfrm>
            <a:off x="7643813" y="2114550"/>
            <a:ext cx="1766888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inverse transform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46866-840D-49DC-924C-3DE014FF148F}"/>
              </a:ext>
            </a:extLst>
          </p:cNvPr>
          <p:cNvSpPr>
            <a:spLocks noGrp="1"/>
          </p:cNvSpPr>
          <p:nvPr/>
        </p:nvSpPr>
        <p:spPr>
          <a:xfrm>
            <a:off x="1524000" y="3276600"/>
            <a:ext cx="76200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3E93EE-5E35-4FEC-B5AB-48060F734916}"/>
              </a:ext>
            </a:extLst>
          </p:cNvPr>
          <p:cNvSpPr>
            <a:spLocks noGrp="1"/>
          </p:cNvSpPr>
          <p:nvPr/>
        </p:nvSpPr>
        <p:spPr>
          <a:xfrm>
            <a:off x="1714500" y="33718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kDC(i) = y(i) at measured locations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DDB13F-7713-4F72-914B-29777380A211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2AFB72-4756-4D85-BEEE-1710ED7D3AFD}"/>
              </a:ext>
            </a:extLst>
          </p:cNvPr>
          <p:cNvSpPr>
            <a:spLocks noGrp="1"/>
          </p:cNvSpPr>
          <p:nvPr/>
        </p:nvSpPr>
        <p:spPr>
          <a:xfrm>
            <a:off x="1657350" y="4495800"/>
            <a:ext cx="7772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visually plausible output is not enough in medical reconstruction.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925CFA-E466-449C-BE7D-C3B6A0A44560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3E14A0-DD19-4E0D-AE82-E9B0E5C5E0E4}"/>
              </a:ext>
            </a:extLst>
          </p:cNvPr>
          <p:cNvSpPr>
            <a:spLocks noGrp="1"/>
          </p:cNvSpPr>
          <p:nvPr/>
        </p:nvSpPr>
        <p:spPr>
          <a:xfrm>
            <a:off x="1657350" y="4933950"/>
            <a:ext cx="7772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Measured k-space values should remain unchanged after the network update.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FFDAB2-1639-433A-B1A1-0DFA6A1DD2A4}"/>
              </a:ext>
            </a:extLst>
          </p:cNvPr>
          <p:cNvSpPr>
            <a:spLocks noGrp="1"/>
          </p:cNvSpPr>
          <p:nvPr/>
        </p:nvSpPr>
        <p:spPr>
          <a:xfrm>
            <a:off x="1428750" y="54387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266904-5689-49D7-BFED-45D73E74154F}"/>
              </a:ext>
            </a:extLst>
          </p:cNvPr>
          <p:cNvSpPr>
            <a:spLocks noGrp="1"/>
          </p:cNvSpPr>
          <p:nvPr/>
        </p:nvSpPr>
        <p:spPr>
          <a:xfrm>
            <a:off x="1657350" y="5372100"/>
            <a:ext cx="7772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This links the deep model back to the inverse-problem formulation.</a:t>
            </a:r>
          </a:p>
        </p:txBody>
      </p:sp>
    </p:spTree>
    <p:extLst>
      <p:ext uri="{BB962C8B-B14F-4D97-AF65-F5344CB8AC3E}">
        <p14:creationId xmlns:p14="http://schemas.microsoft.com/office/powerpoint/2010/main" val="1430309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E528C82-A096-487C-B210-271F339E8E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344F11-C3DB-4B02-A592-A6186A57952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BACKGROUND AND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A7A8D4-14E7-45E6-BEC7-AE5E6ACE56F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24A187-213E-4A52-BD3E-5F4C5AEACDEB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ReconFormer uses recurrent Transformer blocks for MRI reconstruction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F6B58-7932-44BC-8235-A0B277FED6A8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6286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2404526"/>
            <a:ext cx="5905500" cy="21060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691A7C-107B-44E3-A4E2-FDEA5C4CC0A9}"/>
              </a:ext>
            </a:extLst>
          </p:cNvPr>
          <p:cNvSpPr>
            <a:spLocks noGrp="1"/>
          </p:cNvSpPr>
          <p:nvPr/>
        </p:nvSpPr>
        <p:spPr>
          <a:xfrm>
            <a:off x="7429500" y="18097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7C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C78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30603F-A6D2-48FF-98BA-DCB6D26402D8}"/>
              </a:ext>
            </a:extLst>
          </p:cNvPr>
          <p:cNvSpPr>
            <a:spLocks noGrp="1"/>
          </p:cNvSpPr>
          <p:nvPr/>
        </p:nvSpPr>
        <p:spPr>
          <a:xfrm>
            <a:off x="7429500" y="23717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F577F-B66D-4D0C-87B8-18441FCC979C}"/>
              </a:ext>
            </a:extLst>
          </p:cNvPr>
          <p:cNvSpPr>
            <a:spLocks noGrp="1"/>
          </p:cNvSpPr>
          <p:nvPr/>
        </p:nvSpPr>
        <p:spPr>
          <a:xfrm>
            <a:off x="7658100" y="2305050"/>
            <a:ext cx="3238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Recurrent Pyramid Transformer Layers process features across spatial scales.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A636B6-BAFF-4233-8318-35252053B1F2}"/>
              </a:ext>
            </a:extLst>
          </p:cNvPr>
          <p:cNvSpPr>
            <a:spLocks noGrp="1"/>
          </p:cNvSpPr>
          <p:nvPr/>
        </p:nvSpPr>
        <p:spPr>
          <a:xfrm>
            <a:off x="7429500" y="29241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5EDB1F-C5AE-4888-A3C9-3B59B690C777}"/>
              </a:ext>
            </a:extLst>
          </p:cNvPr>
          <p:cNvSpPr>
            <a:spLocks noGrp="1"/>
          </p:cNvSpPr>
          <p:nvPr/>
        </p:nvSpPr>
        <p:spPr>
          <a:xfrm>
            <a:off x="7658100" y="2857500"/>
            <a:ext cx="3238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Recurrent Scale-wise Attention helps combine information from different resolutions.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FD14A4-3FBA-4D0D-97B9-AA95C42B0F6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62FB3C-1CA1-457A-9707-A61E6A216DD5}"/>
              </a:ext>
            </a:extLst>
          </p:cNvPr>
          <p:cNvSpPr>
            <a:spLocks noGrp="1"/>
          </p:cNvSpPr>
          <p:nvPr/>
        </p:nvSpPr>
        <p:spPr>
          <a:xfrm>
            <a:off x="7658100" y="3409950"/>
            <a:ext cx="3238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detail supports tissue boundaries; global context helps suppress aliasing artifacts.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5462D-B1D5-405B-80D4-FF7B27EEDDB2}"/>
              </a:ext>
            </a:extLst>
          </p:cNvPr>
          <p:cNvSpPr>
            <a:spLocks noGrp="1"/>
          </p:cNvSpPr>
          <p:nvPr/>
        </p:nvSpPr>
        <p:spPr>
          <a:xfrm>
            <a:off x="7429500" y="40290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57F49A-1E33-49E9-B321-981C41323E81}"/>
              </a:ext>
            </a:extLst>
          </p:cNvPr>
          <p:cNvSpPr>
            <a:spLocks noGrp="1"/>
          </p:cNvSpPr>
          <p:nvPr/>
        </p:nvSpPr>
        <p:spPr>
          <a:xfrm>
            <a:off x="7658100" y="3962400"/>
            <a:ext cx="3238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Data-consistency layers keep the output compatible with measured k-space.</a:t>
            </a:r>
          </a:p>
        </p:txBody>
      </p:sp>
    </p:spTree>
    <p:extLst>
      <p:ext uri="{BB962C8B-B14F-4D97-AF65-F5344CB8AC3E}">
        <p14:creationId xmlns:p14="http://schemas.microsoft.com/office/powerpoint/2010/main" val="1514171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250AEAA-A885-4902-8BCD-06498CABAF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B54D59-2A48-4420-AF82-E1F9CB5CB1A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PROJECT OBJECTIVE AND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A6D118-DBD9-4480-BF67-43BC713DE97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0AC9D9-C081-4F74-AB7B-3BB8A5FF8A3B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Why we selected ReconFormer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1861B-C16A-4A6A-87A4-C25B29E6BD92}"/>
              </a:ext>
            </a:extLst>
          </p:cNvPr>
          <p:cNvSpPr>
            <a:spLocks noGrp="1"/>
          </p:cNvSpPr>
          <p:nvPr/>
        </p:nvSpPr>
        <p:spPr>
          <a:xfrm>
            <a:off x="723900" y="18954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C041F-E7A4-42C9-8871-FF93DA4B8217}"/>
              </a:ext>
            </a:extLst>
          </p:cNvPr>
          <p:cNvSpPr>
            <a:spLocks noGrp="1"/>
          </p:cNvSpPr>
          <p:nvPr/>
        </p:nvSpPr>
        <p:spPr>
          <a:xfrm>
            <a:off x="952500" y="1828800"/>
            <a:ext cx="4533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Recent reconstruction method published in IEEE Transactions on Medical Imaging.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E7FAF9-1507-4818-B7F0-8424FFBAB29E}"/>
              </a:ext>
            </a:extLst>
          </p:cNvPr>
          <p:cNvSpPr>
            <a:spLocks noGrp="1"/>
          </p:cNvSpPr>
          <p:nvPr/>
        </p:nvSpPr>
        <p:spPr>
          <a:xfrm>
            <a:off x="723900" y="23907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9AC38D-A682-47DD-A991-3047305C595C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4533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Official implementation and pre-trained weights are publicly available.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E0223-B4F9-4A29-83C8-BFFDDDD4BA85}"/>
              </a:ext>
            </a:extLst>
          </p:cNvPr>
          <p:cNvSpPr>
            <a:spLocks noGrp="1"/>
          </p:cNvSpPr>
          <p:nvPr/>
        </p:nvSpPr>
        <p:spPr>
          <a:xfrm>
            <a:off x="723900" y="28860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761C35-EC30-473A-A8E7-A4E32DE87372}"/>
              </a:ext>
            </a:extLst>
          </p:cNvPr>
          <p:cNvSpPr>
            <a:spLocks noGrp="1"/>
          </p:cNvSpPr>
          <p:nvPr/>
        </p:nvSpPr>
        <p:spPr>
          <a:xfrm>
            <a:off x="952500" y="2819400"/>
            <a:ext cx="4533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Suitable for evaluating a recent method without training a model from scratch.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65E108-E54D-4511-B26E-ADB498CFBE67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44386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3B2646-7FC7-4DA9-9F33-9E974A0C26C2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7C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C78"/>
                </a:solidFill>
                <a:latin typeface="Aptos"/>
                <a:ea typeface="Aptos"/>
                <a:cs typeface="Aptos"/>
              </a:rPr>
              <a:t>Our objective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02A8CA-A175-48B0-B9DF-D82DC3B5EBFC}"/>
              </a:ext>
            </a:extLst>
          </p:cNvPr>
          <p:cNvSpPr>
            <a:spLocks noGrp="1"/>
          </p:cNvSpPr>
          <p:nvPr/>
        </p:nvSpPr>
        <p:spPr>
          <a:xfrm>
            <a:off x="6515100" y="26765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ADB266-24E2-4591-A848-7B35637B8090}"/>
              </a:ext>
            </a:extLst>
          </p:cNvPr>
          <p:cNvSpPr>
            <a:spLocks noGrp="1"/>
          </p:cNvSpPr>
          <p:nvPr/>
        </p:nvSpPr>
        <p:spPr>
          <a:xfrm>
            <a:off x="6743700" y="2609850"/>
            <a:ext cx="3448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Understand the reconstruction framework.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B8710E-9C8A-46D7-99F1-D081049B9E61}"/>
              </a:ext>
            </a:extLst>
          </p:cNvPr>
          <p:cNvSpPr>
            <a:spLocks noGrp="1"/>
          </p:cNvSpPr>
          <p:nvPr/>
        </p:nvSpPr>
        <p:spPr>
          <a:xfrm>
            <a:off x="6515100" y="31527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51F86E-68E0-421D-A77E-16B2BDAFD7B6}"/>
              </a:ext>
            </a:extLst>
          </p:cNvPr>
          <p:cNvSpPr>
            <a:spLocks noGrp="1"/>
          </p:cNvSpPr>
          <p:nvPr/>
        </p:nvSpPr>
        <p:spPr>
          <a:xfrm>
            <a:off x="6743700" y="3086100"/>
            <a:ext cx="3448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Run the official evaluation pipeline.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949673-672B-4CA1-A63C-55A2C662F991}"/>
              </a:ext>
            </a:extLst>
          </p:cNvPr>
          <p:cNvSpPr>
            <a:spLocks noGrp="1"/>
          </p:cNvSpPr>
          <p:nvPr/>
        </p:nvSpPr>
        <p:spPr>
          <a:xfrm>
            <a:off x="6515100" y="36290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DE147F-725B-468A-AF6A-A837B2052620}"/>
              </a:ext>
            </a:extLst>
          </p:cNvPr>
          <p:cNvSpPr>
            <a:spLocks noGrp="1"/>
          </p:cNvSpPr>
          <p:nvPr/>
        </p:nvSpPr>
        <p:spPr>
          <a:xfrm>
            <a:off x="6743700" y="3562350"/>
            <a:ext cx="3448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Evaluate AF=4 and AF=8 on fastMRI single-coil knee data.</a:t>
            </a:r>
          </a:p>
        </p:txBody>
      </p:sp>
    </p:spTree>
    <p:extLst>
      <p:ext uri="{BB962C8B-B14F-4D97-AF65-F5344CB8AC3E}">
        <p14:creationId xmlns:p14="http://schemas.microsoft.com/office/powerpoint/2010/main" val="1707937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0F2F4EC-8FA7-4C35-AE45-59EA82FFED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FA11E2-934C-4FF1-A767-FA3062347C3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PROJECT OBJECTIVE AND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6CC053-FDEA-4648-829B-343B3BB10609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86B96A-1D3F-4279-8685-567108B548C4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Evaluation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9A465-66E9-45C7-AE48-FCDF6CBD2A45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A8BC77-6C17-4184-A33B-43247A3598C8}"/>
              </a:ext>
            </a:extLst>
          </p:cNvPr>
          <p:cNvSpPr>
            <a:spLocks noGrp="1"/>
          </p:cNvSpPr>
          <p:nvPr/>
        </p:nvSpPr>
        <p:spPr>
          <a:xfrm>
            <a:off x="1047750" y="21526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AF=4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C6266-80BE-4230-8E7C-9A2099FB48FB}"/>
              </a:ext>
            </a:extLst>
          </p:cNvPr>
          <p:cNvSpPr>
            <a:spLocks noGrp="1"/>
          </p:cNvSpPr>
          <p:nvPr/>
        </p:nvSpPr>
        <p:spPr>
          <a:xfrm>
            <a:off x="1047750" y="25527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center fraction 0.08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BD7497-8851-4B74-8B35-5FA7C9E58189}"/>
              </a:ext>
            </a:extLst>
          </p:cNvPr>
          <p:cNvSpPr>
            <a:spLocks noGrp="1"/>
          </p:cNvSpPr>
          <p:nvPr/>
        </p:nvSpPr>
        <p:spPr>
          <a:xfrm>
            <a:off x="3200400" y="198120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0D999D-10F2-4FB5-AB20-84F820550CB9}"/>
              </a:ext>
            </a:extLst>
          </p:cNvPr>
          <p:cNvSpPr>
            <a:spLocks noGrp="1"/>
          </p:cNvSpPr>
          <p:nvPr/>
        </p:nvSpPr>
        <p:spPr>
          <a:xfrm>
            <a:off x="3352800" y="21526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AF=8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1C3BDA-40B1-4042-92E5-C4949C4DEB67}"/>
              </a:ext>
            </a:extLst>
          </p:cNvPr>
          <p:cNvSpPr>
            <a:spLocks noGrp="1"/>
          </p:cNvSpPr>
          <p:nvPr/>
        </p:nvSpPr>
        <p:spPr>
          <a:xfrm>
            <a:off x="3352800" y="25527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center fraction 0.04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496A4B-9EE6-454C-B246-CD8715187D20}"/>
              </a:ext>
            </a:extLst>
          </p:cNvPr>
          <p:cNvSpPr>
            <a:spLocks noGrp="1"/>
          </p:cNvSpPr>
          <p:nvPr/>
        </p:nvSpPr>
        <p:spPr>
          <a:xfrm>
            <a:off x="5505450" y="198120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DA6CF4-7D7B-4DCC-A9FB-0596E42E36B6}"/>
              </a:ext>
            </a:extLst>
          </p:cNvPr>
          <p:cNvSpPr>
            <a:spLocks noGrp="1"/>
          </p:cNvSpPr>
          <p:nvPr/>
        </p:nvSpPr>
        <p:spPr>
          <a:xfrm>
            <a:off x="5657850" y="21526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A5DA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3A5DA8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04266D-A44B-43ED-ADCD-9EDE53132DB5}"/>
              </a:ext>
            </a:extLst>
          </p:cNvPr>
          <p:cNvSpPr>
            <a:spLocks noGrp="1"/>
          </p:cNvSpPr>
          <p:nvPr/>
        </p:nvSpPr>
        <p:spPr>
          <a:xfrm>
            <a:off x="5657850" y="25527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quantitative metrics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6DCA7A-88F2-4123-9AB5-08B6C7B7F66E}"/>
              </a:ext>
            </a:extLst>
          </p:cNvPr>
          <p:cNvSpPr>
            <a:spLocks noGrp="1"/>
          </p:cNvSpPr>
          <p:nvPr/>
        </p:nvSpPr>
        <p:spPr>
          <a:xfrm>
            <a:off x="7810500" y="198120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9A841-59B4-4E26-8308-3673BE2DD0F5}"/>
              </a:ext>
            </a:extLst>
          </p:cNvPr>
          <p:cNvSpPr>
            <a:spLocks noGrp="1"/>
          </p:cNvSpPr>
          <p:nvPr/>
        </p:nvSpPr>
        <p:spPr>
          <a:xfrm>
            <a:off x="7962900" y="21526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6D845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6D845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945C19-FC0F-46F7-884A-4D6339939BEA}"/>
              </a:ext>
            </a:extLst>
          </p:cNvPr>
          <p:cNvSpPr>
            <a:spLocks noGrp="1"/>
          </p:cNvSpPr>
          <p:nvPr/>
        </p:nvSpPr>
        <p:spPr>
          <a:xfrm>
            <a:off x="7962900" y="25527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qualitative panels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CA5559-7B00-4A06-86DC-835A366DB871}"/>
              </a:ext>
            </a:extLst>
          </p:cNvPr>
          <p:cNvSpPr>
            <a:spLocks noGrp="1"/>
          </p:cNvSpPr>
          <p:nvPr/>
        </p:nvSpPr>
        <p:spPr>
          <a:xfrm>
            <a:off x="1123950" y="3781425"/>
            <a:ext cx="76200" cy="76200"/>
          </a:xfrm>
          <a:prstGeom prst="rect">
            <a:avLst/>
          </a:prstGeom>
          <a:solidFill>
            <a:srgbClr val="3A5D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D818DE-4FA3-4B0E-8FBF-EFC58F6EC0E9}"/>
              </a:ext>
            </a:extLst>
          </p:cNvPr>
          <p:cNvSpPr>
            <a:spLocks noGrp="1"/>
          </p:cNvSpPr>
          <p:nvPr/>
        </p:nvSpPr>
        <p:spPr>
          <a:xfrm>
            <a:off x="1352550" y="3714750"/>
            <a:ext cx="8343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Quantitative evaluation: PSNR, SSIM, and NMSE.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11ECAF-A898-416F-A071-E7160908341A}"/>
              </a:ext>
            </a:extLst>
          </p:cNvPr>
          <p:cNvSpPr>
            <a:spLocks noGrp="1"/>
          </p:cNvSpPr>
          <p:nvPr/>
        </p:nvSpPr>
        <p:spPr>
          <a:xfrm>
            <a:off x="1123950" y="4276725"/>
            <a:ext cx="76200" cy="76200"/>
          </a:xfrm>
          <a:prstGeom prst="rect">
            <a:avLst/>
          </a:prstGeom>
          <a:solidFill>
            <a:srgbClr val="3A5D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C2E282-9497-4693-B590-30A5C5822C49}"/>
              </a:ext>
            </a:extLst>
          </p:cNvPr>
          <p:cNvSpPr>
            <a:spLocks noGrp="1"/>
          </p:cNvSpPr>
          <p:nvPr/>
        </p:nvSpPr>
        <p:spPr>
          <a:xfrm>
            <a:off x="1352550" y="4210050"/>
            <a:ext cx="8343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Qualitative evaluation: ground truth, zero-filled image, ReconFormer output, and absolute error map.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7963D1-CE8C-4299-BBB8-8579416D3F3B}"/>
              </a:ext>
            </a:extLst>
          </p:cNvPr>
          <p:cNvSpPr>
            <a:spLocks noGrp="1"/>
          </p:cNvSpPr>
          <p:nvPr/>
        </p:nvSpPr>
        <p:spPr>
          <a:xfrm>
            <a:off x="1123950" y="4772025"/>
            <a:ext cx="76200" cy="76200"/>
          </a:xfrm>
          <a:prstGeom prst="rect">
            <a:avLst/>
          </a:prstGeom>
          <a:solidFill>
            <a:srgbClr val="3A5D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514509-07ED-4D4F-880A-1654D62C6AAC}"/>
              </a:ext>
            </a:extLst>
          </p:cNvPr>
          <p:cNvSpPr>
            <a:spLocks noGrp="1"/>
          </p:cNvSpPr>
          <p:nvPr/>
        </p:nvSpPr>
        <p:spPr>
          <a:xfrm>
            <a:off x="1352550" y="4705350"/>
            <a:ext cx="8343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Baselines: zero-filled reconstruction and D5C5 values reported by the original paper.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4EB033-C370-4332-BB13-8F5CFA8241FB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781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AF=8 is expected to be harder because more k-space samples are missing.</a:t>
            </a:r>
          </a:p>
        </p:txBody>
      </p:sp>
    </p:spTree>
    <p:extLst>
      <p:ext uri="{BB962C8B-B14F-4D97-AF65-F5344CB8AC3E}">
        <p14:creationId xmlns:p14="http://schemas.microsoft.com/office/powerpoint/2010/main" val="164373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AB02719-60CC-4196-BC40-056E76DFFA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8F52B4-E303-42C6-AFDD-EA4A1F5D958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PROJECT OBJECTIVE AND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BB5CE6-7EEE-45FD-B495-227E6B42382C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14936C-CAF3-4A0F-AE48-949D78B0307F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Implementation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05C1B3-8958-4284-A456-F25BC31AEC8C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2057400" cy="857250"/>
          </a:xfrm>
          <a:prstGeom prst="rect">
            <a:avLst/>
          </a:prstGeom>
          <a:solidFill>
            <a:srgbClr val="DFE7F3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060085-9390-4ED7-B891-007095C67C4A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select acceleration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456AF4-4FFB-4079-AE42-EF8E895F99C6}"/>
              </a:ext>
            </a:extLst>
          </p:cNvPr>
          <p:cNvSpPr>
            <a:spLocks noGrp="1"/>
          </p:cNvSpPr>
          <p:nvPr/>
        </p:nvSpPr>
        <p:spPr>
          <a:xfrm>
            <a:off x="2876550" y="2162175"/>
            <a:ext cx="13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047F4-EC59-47C1-81FA-C2D78D9718F7}"/>
              </a:ext>
            </a:extLst>
          </p:cNvPr>
          <p:cNvSpPr>
            <a:spLocks noGrp="1"/>
          </p:cNvSpPr>
          <p:nvPr/>
        </p:nvSpPr>
        <p:spPr>
          <a:xfrm>
            <a:off x="3048000" y="1924050"/>
            <a:ext cx="2057400" cy="857250"/>
          </a:xfrm>
          <a:prstGeom prst="rect">
            <a:avLst/>
          </a:prstGeom>
          <a:solidFill>
            <a:srgbClr val="DCEDEA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E9422-0280-486B-BD41-7242B9BF9ABA}"/>
              </a:ext>
            </a:extLst>
          </p:cNvPr>
          <p:cNvSpPr>
            <a:spLocks noGrp="1"/>
          </p:cNvSpPr>
          <p:nvPr/>
        </p:nvSpPr>
        <p:spPr>
          <a:xfrm>
            <a:off x="3181350" y="2114550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load checkpoint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B7A432-FA32-4EB3-95D5-F3A26F3FB142}"/>
              </a:ext>
            </a:extLst>
          </p:cNvPr>
          <p:cNvSpPr>
            <a:spLocks noGrp="1"/>
          </p:cNvSpPr>
          <p:nvPr/>
        </p:nvSpPr>
        <p:spPr>
          <a:xfrm>
            <a:off x="5143500" y="2162175"/>
            <a:ext cx="13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20243-350E-4078-B009-28845F35C697}"/>
              </a:ext>
            </a:extLst>
          </p:cNvPr>
          <p:cNvSpPr>
            <a:spLocks noGrp="1"/>
          </p:cNvSpPr>
          <p:nvPr/>
        </p:nvSpPr>
        <p:spPr>
          <a:xfrm>
            <a:off x="5314950" y="1924050"/>
            <a:ext cx="2057400" cy="857250"/>
          </a:xfrm>
          <a:prstGeom prst="rect">
            <a:avLst/>
          </a:prstGeom>
          <a:solidFill>
            <a:srgbClr val="F1DEC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F10F31-AAB6-443F-B655-4C6AA6ABAE9E}"/>
              </a:ext>
            </a:extLst>
          </p:cNvPr>
          <p:cNvSpPr>
            <a:spLocks noGrp="1"/>
          </p:cNvSpPr>
          <p:nvPr/>
        </p:nvSpPr>
        <p:spPr>
          <a:xfrm>
            <a:off x="5448300" y="2114550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run evaluation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AB3CC6-59B0-47C0-A5D6-0726647F32DF}"/>
              </a:ext>
            </a:extLst>
          </p:cNvPr>
          <p:cNvSpPr>
            <a:spLocks noGrp="1"/>
          </p:cNvSpPr>
          <p:nvPr/>
        </p:nvSpPr>
        <p:spPr>
          <a:xfrm>
            <a:off x="7410450" y="2162175"/>
            <a:ext cx="133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1E5D22-C462-4619-A75D-8C5784A45A69}"/>
              </a:ext>
            </a:extLst>
          </p:cNvPr>
          <p:cNvSpPr>
            <a:spLocks noGrp="1"/>
          </p:cNvSpPr>
          <p:nvPr/>
        </p:nvSpPr>
        <p:spPr>
          <a:xfrm>
            <a:off x="7581900" y="1924050"/>
            <a:ext cx="2057400" cy="857250"/>
          </a:xfrm>
          <a:prstGeom prst="rect">
            <a:avLst/>
          </a:prstGeom>
          <a:solidFill>
            <a:srgbClr val="DFE7F3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43225F-5E2C-4BDA-9BEC-97BA7BF5224F}"/>
              </a:ext>
            </a:extLst>
          </p:cNvPr>
          <p:cNvSpPr>
            <a:spLocks noGrp="1"/>
          </p:cNvSpPr>
          <p:nvPr/>
        </p:nvSpPr>
        <p:spPr>
          <a:xfrm>
            <a:off x="7715250" y="2114550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export metrics and figures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1595EE-533B-41BC-B470-FE91FBF02F78}"/>
              </a:ext>
            </a:extLst>
          </p:cNvPr>
          <p:cNvSpPr>
            <a:spLocks noGrp="1"/>
          </p:cNvSpPr>
          <p:nvPr/>
        </p:nvSpPr>
        <p:spPr>
          <a:xfrm>
            <a:off x="1028700" y="3282573"/>
            <a:ext cx="8572500" cy="6286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6A5B1D-8F48-4438-9380-826C38F20B63}"/>
              </a:ext>
            </a:extLst>
          </p:cNvPr>
          <p:cNvSpPr>
            <a:spLocks noGrp="1"/>
          </p:cNvSpPr>
          <p:nvPr/>
        </p:nvSpPr>
        <p:spPr>
          <a:xfrm>
            <a:off x="1295400" y="3486150"/>
            <a:ext cx="809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main_recon_test.py  -- acceleration AF=4 / AF=8  -- checkpoint corresponding to the selected AF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79547C-CAFC-49E7-8754-85A594167B8C}"/>
              </a:ext>
            </a:extLst>
          </p:cNvPr>
          <p:cNvSpPr>
            <a:spLocks noGrp="1"/>
          </p:cNvSpPr>
          <p:nvPr/>
        </p:nvSpPr>
        <p:spPr>
          <a:xfrm>
            <a:off x="1257300" y="44672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201800-C57E-40FD-A69E-E910E7CA8FDE}"/>
              </a:ext>
            </a:extLst>
          </p:cNvPr>
          <p:cNvSpPr>
            <a:spLocks noGrp="1"/>
          </p:cNvSpPr>
          <p:nvPr/>
        </p:nvSpPr>
        <p:spPr>
          <a:xfrm>
            <a:off x="1485900" y="4400550"/>
            <a:ext cx="7867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model architecture and learned weights were kept unchanged.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8CD64F-C62D-476B-BE19-FBEA9617B331}"/>
              </a:ext>
            </a:extLst>
          </p:cNvPr>
          <p:cNvSpPr>
            <a:spLocks noGrp="1"/>
          </p:cNvSpPr>
          <p:nvPr/>
        </p:nvSpPr>
        <p:spPr>
          <a:xfrm>
            <a:off x="1257300" y="49244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8C3C35-6BDB-4A42-AD4E-48835E38CED1}"/>
              </a:ext>
            </a:extLst>
          </p:cNvPr>
          <p:cNvSpPr>
            <a:spLocks noGrp="1"/>
          </p:cNvSpPr>
          <p:nvPr/>
        </p:nvSpPr>
        <p:spPr>
          <a:xfrm>
            <a:off x="1485900" y="4857750"/>
            <a:ext cx="7867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same pipeline produced both metric values and qualitative comparison figures.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845839-98AD-4219-8CE7-02C880F9F2BC}"/>
              </a:ext>
            </a:extLst>
          </p:cNvPr>
          <p:cNvSpPr>
            <a:spLocks noGrp="1"/>
          </p:cNvSpPr>
          <p:nvPr/>
        </p:nvSpPr>
        <p:spPr>
          <a:xfrm>
            <a:off x="1257300" y="53816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565F52-0D20-462C-B0C5-2C64A1B00104}"/>
              </a:ext>
            </a:extLst>
          </p:cNvPr>
          <p:cNvSpPr>
            <a:spLocks noGrp="1"/>
          </p:cNvSpPr>
          <p:nvPr/>
        </p:nvSpPr>
        <p:spPr>
          <a:xfrm>
            <a:off x="1485900" y="5314950"/>
            <a:ext cx="7867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demo can show the command, checkpoint path, acceleration factor, and generated outputs.</a:t>
            </a:r>
          </a:p>
        </p:txBody>
      </p:sp>
    </p:spTree>
    <p:extLst>
      <p:ext uri="{BB962C8B-B14F-4D97-AF65-F5344CB8AC3E}">
        <p14:creationId xmlns:p14="http://schemas.microsoft.com/office/powerpoint/2010/main" val="128854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5CDF5DD-9BC1-4E57-9B1C-DCD8BCAAD0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454B4E-D45B-448A-A442-C6521FC9CA6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DATASET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FC55BD-3A54-4EF4-BA1E-9F2AF40A447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C0D1BB-778D-4F18-8DE2-5ED4A3904CC7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Computational setup and implementation adjustments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B6573-800B-4B64-97CD-A24D5217A55F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2857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A21DA7-9210-4BC2-9634-03209B08B582}"/>
              </a:ext>
            </a:extLst>
          </p:cNvPr>
          <p:cNvSpPr>
            <a:spLocks noGrp="1"/>
          </p:cNvSpPr>
          <p:nvPr/>
        </p:nvSpPr>
        <p:spPr>
          <a:xfrm>
            <a:off x="1104900" y="22098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87C7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C78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D63F6D-7CA7-4DE3-833B-5AC48594CF97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Google Colab</a:t>
            </a:r>
          </a:p>
          <a:p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NVIDIA Tesla T4 GPU</a:t>
            </a:r>
          </a:p>
          <a:p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Single-GPU execution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8A429-6606-439E-9973-F2622B95F9E4}"/>
              </a:ext>
            </a:extLst>
          </p:cNvPr>
          <p:cNvSpPr>
            <a:spLocks noGrp="1"/>
          </p:cNvSpPr>
          <p:nvPr/>
        </p:nvSpPr>
        <p:spPr>
          <a:xfrm>
            <a:off x="4248150" y="1885950"/>
            <a:ext cx="58102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323EF9-9FF7-4E0E-89EB-1A8E49E8E7B8}"/>
              </a:ext>
            </a:extLst>
          </p:cNvPr>
          <p:cNvSpPr>
            <a:spLocks noGrp="1"/>
          </p:cNvSpPr>
          <p:nvPr/>
        </p:nvSpPr>
        <p:spPr>
          <a:xfrm>
            <a:off x="4533900" y="22098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Compatibility changes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45EF46-4A64-459C-96BB-720BC84D05C9}"/>
              </a:ext>
            </a:extLst>
          </p:cNvPr>
          <p:cNvSpPr>
            <a:spLocks noGrp="1"/>
          </p:cNvSpPr>
          <p:nvPr/>
        </p:nvSpPr>
        <p:spPr>
          <a:xfrm>
            <a:off x="4591050" y="279082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B0DD8-F239-4BFD-A840-AFA29BA6B0D9}"/>
              </a:ext>
            </a:extLst>
          </p:cNvPr>
          <p:cNvSpPr>
            <a:spLocks noGrp="1"/>
          </p:cNvSpPr>
          <p:nvPr/>
        </p:nvSpPr>
        <p:spPr>
          <a:xfrm>
            <a:off x="4819650" y="2724150"/>
            <a:ext cx="4533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Updated deprecated Fourier transform calls to torch.fft.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3341BB-9DB6-4DFC-9A6F-FE07374DEDC3}"/>
              </a:ext>
            </a:extLst>
          </p:cNvPr>
          <p:cNvSpPr>
            <a:spLocks noGrp="1"/>
          </p:cNvSpPr>
          <p:nvPr/>
        </p:nvSpPr>
        <p:spPr>
          <a:xfrm>
            <a:off x="4591050" y="324802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A9EF9F-2CA1-4FF2-A651-4FAE6250B9E7}"/>
              </a:ext>
            </a:extLst>
          </p:cNvPr>
          <p:cNvSpPr>
            <a:spLocks noGrp="1"/>
          </p:cNvSpPr>
          <p:nvPr/>
        </p:nvSpPr>
        <p:spPr>
          <a:xfrm>
            <a:off x="4819650" y="3181350"/>
            <a:ext cx="4533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Reduced test batch size from 8 to 1 due to GPU memory limits.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8C7973-7860-4C2A-8C75-2F24E4CE54A4}"/>
              </a:ext>
            </a:extLst>
          </p:cNvPr>
          <p:cNvSpPr>
            <a:spLocks noGrp="1"/>
          </p:cNvSpPr>
          <p:nvPr/>
        </p:nvSpPr>
        <p:spPr>
          <a:xfrm>
            <a:off x="4591050" y="370522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F7482-DF7F-4FD5-AE4B-65C4DCE6B8FA}"/>
              </a:ext>
            </a:extLst>
          </p:cNvPr>
          <p:cNvSpPr>
            <a:spLocks noGrp="1"/>
          </p:cNvSpPr>
          <p:nvPr/>
        </p:nvSpPr>
        <p:spPr>
          <a:xfrm>
            <a:off x="4819650" y="3638550"/>
            <a:ext cx="4533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Added visualization export for qualitative comparison figures.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60CDF5-7FED-45C7-9513-8CD692E2445B}"/>
              </a:ext>
            </a:extLst>
          </p:cNvPr>
          <p:cNvSpPr>
            <a:spLocks noGrp="1"/>
          </p:cNvSpPr>
          <p:nvPr/>
        </p:nvSpPr>
        <p:spPr>
          <a:xfrm>
            <a:off x="1371600" y="49530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These adjustments affected execution compatibility, not the reconstruction algorithm.</a:t>
            </a:r>
          </a:p>
        </p:txBody>
      </p:sp>
    </p:spTree>
    <p:extLst>
      <p:ext uri="{BB962C8B-B14F-4D97-AF65-F5344CB8AC3E}">
        <p14:creationId xmlns:p14="http://schemas.microsoft.com/office/powerpoint/2010/main" val="242972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6445ED7-6546-4554-B5A3-F312E40CBD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D17C8F-9557-4477-B31E-5A97351765CE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DATASET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27D6C4-AD26-405B-BEF0-ED5EA73B0CE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821116-ED9A-4A6A-985D-8E716D4D5208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fastMRI single-coil knee validation subset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C6FF26-1ABD-406B-B2BD-9D68FE71062A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EEC60-1AE0-4675-98B9-26E0AC2DC9B2}"/>
              </a:ext>
            </a:extLst>
          </p:cNvPr>
          <p:cNvSpPr>
            <a:spLocks noGrp="1"/>
          </p:cNvSpPr>
          <p:nvPr/>
        </p:nvSpPr>
        <p:spPr>
          <a:xfrm>
            <a:off x="1162050" y="22669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06B6B-CD83-43CD-AD07-0D43A448CFD0}"/>
              </a:ext>
            </a:extLst>
          </p:cNvPr>
          <p:cNvSpPr>
            <a:spLocks noGrp="1"/>
          </p:cNvSpPr>
          <p:nvPr/>
        </p:nvSpPr>
        <p:spPr>
          <a:xfrm>
            <a:off x="1162050" y="26670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validation scans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84A1EF-DCAA-4790-B513-02231E9CCBFE}"/>
              </a:ext>
            </a:extLst>
          </p:cNvPr>
          <p:cNvSpPr>
            <a:spLocks noGrp="1"/>
          </p:cNvSpPr>
          <p:nvPr/>
        </p:nvSpPr>
        <p:spPr>
          <a:xfrm>
            <a:off x="3619500" y="2095500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AB08EA-99B2-45A5-B2EC-45F60C4201E1}"/>
              </a:ext>
            </a:extLst>
          </p:cNvPr>
          <p:cNvSpPr>
            <a:spLocks noGrp="1"/>
          </p:cNvSpPr>
          <p:nvPr/>
        </p:nvSpPr>
        <p:spPr>
          <a:xfrm>
            <a:off x="3771900" y="22669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A5DA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3A5DA8"/>
                </a:solidFill>
                <a:latin typeface="Georgia"/>
                <a:ea typeface="Georgia"/>
                <a:cs typeface="Georgia"/>
              </a:rPr>
              <a:t>1059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35964C-2D0C-42F3-9E18-79AF13B53094}"/>
              </a:ext>
            </a:extLst>
          </p:cNvPr>
          <p:cNvSpPr>
            <a:spLocks noGrp="1"/>
          </p:cNvSpPr>
          <p:nvPr/>
        </p:nvSpPr>
        <p:spPr>
          <a:xfrm>
            <a:off x="3771900" y="26670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total slices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4721EB-E535-448D-9426-A18DFBDF2694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2095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E3CB5E-07C8-4615-9E9E-A5062F3CBACB}"/>
              </a:ext>
            </a:extLst>
          </p:cNvPr>
          <p:cNvSpPr>
            <a:spLocks noGrp="1"/>
          </p:cNvSpPr>
          <p:nvPr/>
        </p:nvSpPr>
        <p:spPr>
          <a:xfrm>
            <a:off x="6381750" y="22669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5E00EE-7149-41B7-A44B-0F0085162996}"/>
              </a:ext>
            </a:extLst>
          </p:cNvPr>
          <p:cNvSpPr>
            <a:spLocks noGrp="1"/>
          </p:cNvSpPr>
          <p:nvPr/>
        </p:nvSpPr>
        <p:spPr>
          <a:xfrm>
            <a:off x="6381750" y="26670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acceleration factors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C5FF56-E4C3-4089-8427-12DEEE14A205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8286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subset is smaller than the full validation protocol, but it is sufficient to check that the implementation runs correctly and that quality degrades from AF=4 to AF=8 as expected.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1CB14-0578-4015-AD97-DBDC6612F19D}"/>
              </a:ext>
            </a:extLst>
          </p:cNvPr>
          <p:cNvSpPr>
            <a:spLocks noGrp="1"/>
          </p:cNvSpPr>
          <p:nvPr/>
        </p:nvSpPr>
        <p:spPr>
          <a:xfrm>
            <a:off x="1847850" y="5067300"/>
            <a:ext cx="704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Same representative central knee slice was used for the qualitative AF=4 and AF=8 comparison.</a:t>
            </a:r>
          </a:p>
        </p:txBody>
      </p:sp>
    </p:spTree>
    <p:extLst>
      <p:ext uri="{BB962C8B-B14F-4D97-AF65-F5344CB8AC3E}">
        <p14:creationId xmlns:p14="http://schemas.microsoft.com/office/powerpoint/2010/main" val="65298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5AAE90B-480E-420F-91E1-3837C43242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7B133D-2127-426D-83D5-7A2761D6533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DATASET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326F26-7F38-400A-8A91-69378143874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D68A93-83A9-4656-8214-EC7F518BF9EB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Quantitative image quality metrics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8488F-396F-457D-961B-F797C8024055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4476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27DA0-9205-479E-91C9-223C231E8EB9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4095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NMSE = ||x - x̂||² / ||x||²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7E1FF7-87F7-4F51-BE2E-DEA8880911E1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4476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3171E-6DF9-43BC-BC49-7F09194E750E}"/>
              </a:ext>
            </a:extLst>
          </p:cNvPr>
          <p:cNvSpPr>
            <a:spLocks noGrp="1"/>
          </p:cNvSpPr>
          <p:nvPr/>
        </p:nvSpPr>
        <p:spPr>
          <a:xfrm>
            <a:off x="1066800" y="3124200"/>
            <a:ext cx="4095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3A5DA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3A5DA8"/>
                </a:solidFill>
                <a:latin typeface="Georgia"/>
                <a:ea typeface="Georgia"/>
                <a:cs typeface="Georgia"/>
              </a:rPr>
              <a:t>PSNR = 20 log10(xmax / sqrt(MSE))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D99061-89CC-4C26-9269-AD0A6EA100B4}"/>
              </a:ext>
            </a:extLst>
          </p:cNvPr>
          <p:cNvSpPr>
            <a:spLocks noGrp="1"/>
          </p:cNvSpPr>
          <p:nvPr/>
        </p:nvSpPr>
        <p:spPr>
          <a:xfrm>
            <a:off x="876300" y="4152900"/>
            <a:ext cx="44767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7803A6-02AB-43F4-8053-2929EF4F7B29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4095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SSIM compares luminance, contrast, and 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E6D550-2223-4AF6-A4A1-F29E2C042CF2}"/>
              </a:ext>
            </a:extLst>
          </p:cNvPr>
          <p:cNvSpPr>
            <a:spLocks noGrp="1"/>
          </p:cNvSpPr>
          <p:nvPr/>
        </p:nvSpPr>
        <p:spPr>
          <a:xfrm>
            <a:off x="6324600" y="21621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521FF4-848A-40D2-8BA3-FDC70A4A733E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3486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NMSE: normalized reconstruction error, so lower is better.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64D540-DB98-4057-9425-622398A88268}"/>
              </a:ext>
            </a:extLst>
          </p:cNvPr>
          <p:cNvSpPr>
            <a:spLocks noGrp="1"/>
          </p:cNvSpPr>
          <p:nvPr/>
        </p:nvSpPr>
        <p:spPr>
          <a:xfrm>
            <a:off x="6324600" y="27146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8A88F8-8A0D-42D2-B940-B08F327BC2CB}"/>
              </a:ext>
            </a:extLst>
          </p:cNvPr>
          <p:cNvSpPr>
            <a:spLocks noGrp="1"/>
          </p:cNvSpPr>
          <p:nvPr/>
        </p:nvSpPr>
        <p:spPr>
          <a:xfrm>
            <a:off x="6553200" y="2647950"/>
            <a:ext cx="3486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PSNR: pixel-wise fidelity, so higher is better.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013CED-6C38-4B90-A80F-4E6CCD0DBB0B}"/>
              </a:ext>
            </a:extLst>
          </p:cNvPr>
          <p:cNvSpPr>
            <a:spLocks noGrp="1"/>
          </p:cNvSpPr>
          <p:nvPr/>
        </p:nvSpPr>
        <p:spPr>
          <a:xfrm>
            <a:off x="6324600" y="326707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FB10CE-BB2E-4CC3-A678-506F6F380717}"/>
              </a:ext>
            </a:extLst>
          </p:cNvPr>
          <p:cNvSpPr>
            <a:spLocks noGrp="1"/>
          </p:cNvSpPr>
          <p:nvPr/>
        </p:nvSpPr>
        <p:spPr>
          <a:xfrm>
            <a:off x="6553200" y="3200400"/>
            <a:ext cx="3486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SSIM: structural similarity, so higher is better.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43CA16-9A8B-4005-AEBA-87CD7BAEC0A1}"/>
              </a:ext>
            </a:extLst>
          </p:cNvPr>
          <p:cNvSpPr>
            <a:spLocks noGrp="1"/>
          </p:cNvSpPr>
          <p:nvPr/>
        </p:nvSpPr>
        <p:spPr>
          <a:xfrm>
            <a:off x="6324600" y="3819525"/>
            <a:ext cx="76200" cy="76200"/>
          </a:xfrm>
          <a:prstGeom prst="rect">
            <a:avLst/>
          </a:prstGeom>
          <a:solidFill>
            <a:srgbClr val="087C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9050D1-82A9-4BCC-9841-312AE7430B95}"/>
              </a:ext>
            </a:extLst>
          </p:cNvPr>
          <p:cNvSpPr>
            <a:spLocks noGrp="1"/>
          </p:cNvSpPr>
          <p:nvPr/>
        </p:nvSpPr>
        <p:spPr>
          <a:xfrm>
            <a:off x="6553200" y="3752850"/>
            <a:ext cx="34861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Together, these metrics capture error magnitude, intensity fidelity, and structural quality.</a:t>
            </a:r>
          </a:p>
        </p:txBody>
      </p:sp>
    </p:spTree>
    <p:extLst>
      <p:ext uri="{BB962C8B-B14F-4D97-AF65-F5344CB8AC3E}">
        <p14:creationId xmlns:p14="http://schemas.microsoft.com/office/powerpoint/2010/main" val="58299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A114A10-89CC-446F-862C-837664E8CE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6A06EE-BF3A-4FFB-8DC6-D5BAE578A6F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DATASET AND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C2737-5C52-4554-A623-C397A4160649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FDF4E5-919C-4E90-90EC-D95950779026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Qualitative evaluation panels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B58886-5BEA-4CB8-A600-E619632EC485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22669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5821" y="1981200"/>
            <a:ext cx="1810708" cy="1924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554472-AD12-40EF-8621-4F3D9B813F5D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Ground truth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818575-E230-4818-B861-46B58856153C}"/>
              </a:ext>
            </a:extLst>
          </p:cNvPr>
          <p:cNvSpPr>
            <a:spLocks noGrp="1"/>
          </p:cNvSpPr>
          <p:nvPr/>
        </p:nvSpPr>
        <p:spPr>
          <a:xfrm>
            <a:off x="3143250" y="1885950"/>
            <a:ext cx="22669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71371" y="1981200"/>
            <a:ext cx="1810708" cy="19240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1C3ED1-8482-458D-819F-60FE34FC15EE}"/>
              </a:ext>
            </a:extLst>
          </p:cNvPr>
          <p:cNvSpPr>
            <a:spLocks noGrp="1"/>
          </p:cNvSpPr>
          <p:nvPr/>
        </p:nvSpPr>
        <p:spPr>
          <a:xfrm>
            <a:off x="3257550" y="39624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Zero-filled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2CA9C-FA3C-400D-9116-F3FBE9D1905A}"/>
              </a:ext>
            </a:extLst>
          </p:cNvPr>
          <p:cNvSpPr>
            <a:spLocks noGrp="1"/>
          </p:cNvSpPr>
          <p:nvPr/>
        </p:nvSpPr>
        <p:spPr>
          <a:xfrm>
            <a:off x="5638800" y="1885950"/>
            <a:ext cx="22669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66921" y="1981200"/>
            <a:ext cx="1810708" cy="19240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07B1E7-82B1-4652-919A-DFB85D891664}"/>
              </a:ext>
            </a:extLst>
          </p:cNvPr>
          <p:cNvSpPr>
            <a:spLocks noGrp="1"/>
          </p:cNvSpPr>
          <p:nvPr/>
        </p:nvSpPr>
        <p:spPr>
          <a:xfrm>
            <a:off x="5753100" y="39624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ReconFormer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930566-3766-4EBF-90F3-7B62951437AF}"/>
              </a:ext>
            </a:extLst>
          </p:cNvPr>
          <p:cNvSpPr>
            <a:spLocks noGrp="1"/>
          </p:cNvSpPr>
          <p:nvPr/>
        </p:nvSpPr>
        <p:spPr>
          <a:xfrm>
            <a:off x="8134350" y="1885950"/>
            <a:ext cx="226695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361089" y="1981200"/>
            <a:ext cx="1813472" cy="19240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83A8BFC-EBE3-4457-AAC4-64C626ADB746}"/>
              </a:ext>
            </a:extLst>
          </p:cNvPr>
          <p:cNvSpPr>
            <a:spLocks noGrp="1"/>
          </p:cNvSpPr>
          <p:nvPr/>
        </p:nvSpPr>
        <p:spPr>
          <a:xfrm>
            <a:off x="8248650" y="3962400"/>
            <a:ext cx="203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Absolute error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CE514B-1979-496E-A4FD-7D417FA8CA17}"/>
              </a:ext>
            </a:extLst>
          </p:cNvPr>
          <p:cNvSpPr>
            <a:spLocks noGrp="1"/>
          </p:cNvSpPr>
          <p:nvPr/>
        </p:nvSpPr>
        <p:spPr>
          <a:xfrm>
            <a:off x="1409700" y="4800600"/>
            <a:ext cx="8191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same four-panel structure is used for AF=4 and AF=8, making the visual effect of stronger under-sampling easier to compare.</a:t>
            </a:r>
          </a:p>
        </p:txBody>
      </p:sp>
    </p:spTree>
    <p:extLst>
      <p:ext uri="{BB962C8B-B14F-4D97-AF65-F5344CB8AC3E}">
        <p14:creationId xmlns:p14="http://schemas.microsoft.com/office/powerpoint/2010/main" val="21552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4A765A9-C144-4C10-B8D9-6AFC7B18F3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D12D9-21AD-474B-9C7B-134ADF5B6D2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RESULTS AND 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462E5-2AF5-4DC6-BE85-E38491A03807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BF8507-8D64-445E-A9ED-4BABFF34C044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Quantitative results show the expected AF=4 to AF=8 degradation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5337B6-5D5B-4163-8CC1-D0117B976503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8FF210-63F2-442A-AE74-3011365E0DB6}"/>
              </a:ext>
            </a:extLst>
          </p:cNvPr>
          <p:cNvSpPr>
            <a:spLocks noGrp="1"/>
          </p:cNvSpPr>
          <p:nvPr/>
        </p:nvSpPr>
        <p:spPr>
          <a:xfrm>
            <a:off x="933450" y="20574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31.69 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610029-8CD0-46BC-87FA-1776BB98B2DF}"/>
              </a:ext>
            </a:extLst>
          </p:cNvPr>
          <p:cNvSpPr>
            <a:spLocks noGrp="1"/>
          </p:cNvSpPr>
          <p:nvPr/>
        </p:nvSpPr>
        <p:spPr>
          <a:xfrm>
            <a:off x="933450" y="245745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AF=4 PSNR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1A50E-4BD6-4318-90B8-A30C3E8259F7}"/>
              </a:ext>
            </a:extLst>
          </p:cNvPr>
          <p:cNvSpPr>
            <a:spLocks noGrp="1"/>
          </p:cNvSpPr>
          <p:nvPr/>
        </p:nvSpPr>
        <p:spPr>
          <a:xfrm>
            <a:off x="3028950" y="188595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BAE841-3C03-4C6E-9439-4707DAF68280}"/>
              </a:ext>
            </a:extLst>
          </p:cNvPr>
          <p:cNvSpPr>
            <a:spLocks noGrp="1"/>
          </p:cNvSpPr>
          <p:nvPr/>
        </p:nvSpPr>
        <p:spPr>
          <a:xfrm>
            <a:off x="3181350" y="20574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0.797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722EB0-3069-4C52-9F58-CD27D85DA601}"/>
              </a:ext>
            </a:extLst>
          </p:cNvPr>
          <p:cNvSpPr>
            <a:spLocks noGrp="1"/>
          </p:cNvSpPr>
          <p:nvPr/>
        </p:nvSpPr>
        <p:spPr>
          <a:xfrm>
            <a:off x="3181350" y="245745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AF=4 SSIM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B8836F-2CFF-4C1F-AB78-2B58F06BDCC2}"/>
              </a:ext>
            </a:extLst>
          </p:cNvPr>
          <p:cNvSpPr>
            <a:spLocks noGrp="1"/>
          </p:cNvSpPr>
          <p:nvPr/>
        </p:nvSpPr>
        <p:spPr>
          <a:xfrm>
            <a:off x="5276850" y="188595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5852F-8119-4D90-9021-72AAE1BA1978}"/>
              </a:ext>
            </a:extLst>
          </p:cNvPr>
          <p:cNvSpPr>
            <a:spLocks noGrp="1"/>
          </p:cNvSpPr>
          <p:nvPr/>
        </p:nvSpPr>
        <p:spPr>
          <a:xfrm>
            <a:off x="5429250" y="20574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87C7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87C78"/>
                </a:solidFill>
                <a:latin typeface="Georgia"/>
                <a:ea typeface="Georgia"/>
                <a:cs typeface="Georgia"/>
              </a:rPr>
              <a:t>0.0345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15575D-1ED4-4A4F-AF35-BB86E963DDB7}"/>
              </a:ext>
            </a:extLst>
          </p:cNvPr>
          <p:cNvSpPr>
            <a:spLocks noGrp="1"/>
          </p:cNvSpPr>
          <p:nvPr/>
        </p:nvSpPr>
        <p:spPr>
          <a:xfrm>
            <a:off x="5429250" y="245745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AF=4 NMSE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417BA1-42AE-4747-8CE2-C77060491694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D059ED-ACDF-4F56-98FB-0576D8B70444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29.88 dB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067B18-2A9D-4ADB-86B1-D8EE90C5D164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AF=8 PSNR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9D2572-B103-4C14-836C-50F16786104C}"/>
              </a:ext>
            </a:extLst>
          </p:cNvPr>
          <p:cNvSpPr>
            <a:spLocks noGrp="1"/>
          </p:cNvSpPr>
          <p:nvPr/>
        </p:nvSpPr>
        <p:spPr>
          <a:xfrm>
            <a:off x="3028950" y="323850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165DE-E72E-41DA-852E-35BE681528DC}"/>
              </a:ext>
            </a:extLst>
          </p:cNvPr>
          <p:cNvSpPr>
            <a:spLocks noGrp="1"/>
          </p:cNvSpPr>
          <p:nvPr/>
        </p:nvSpPr>
        <p:spPr>
          <a:xfrm>
            <a:off x="3181350" y="34099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0.738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5336CE-56EF-428A-B621-8F3346E6E5DB}"/>
              </a:ext>
            </a:extLst>
          </p:cNvPr>
          <p:cNvSpPr>
            <a:spLocks noGrp="1"/>
          </p:cNvSpPr>
          <p:nvPr/>
        </p:nvSpPr>
        <p:spPr>
          <a:xfrm>
            <a:off x="3181350" y="38100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AF=8 SSIM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53D29C-3365-47D5-9AC7-27A5D0C3D1C3}"/>
              </a:ext>
            </a:extLst>
          </p:cNvPr>
          <p:cNvSpPr>
            <a:spLocks noGrp="1"/>
          </p:cNvSpPr>
          <p:nvPr/>
        </p:nvSpPr>
        <p:spPr>
          <a:xfrm>
            <a:off x="5276850" y="3238500"/>
            <a:ext cx="2000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D0F67C-1A04-427B-BA38-20DB37B422E3}"/>
              </a:ext>
            </a:extLst>
          </p:cNvPr>
          <p:cNvSpPr>
            <a:spLocks noGrp="1"/>
          </p:cNvSpPr>
          <p:nvPr/>
        </p:nvSpPr>
        <p:spPr>
          <a:xfrm>
            <a:off x="5429250" y="34099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0.0477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EAA0F5-617F-47F3-853F-EFC54AC37D46}"/>
              </a:ext>
            </a:extLst>
          </p:cNvPr>
          <p:cNvSpPr>
            <a:spLocks noGrp="1"/>
          </p:cNvSpPr>
          <p:nvPr/>
        </p:nvSpPr>
        <p:spPr>
          <a:xfrm>
            <a:off x="5429250" y="38100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AF=8 NMSE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A9A407-25B5-4481-920F-853B5498B96A}"/>
              </a:ext>
            </a:extLst>
          </p:cNvPr>
          <p:cNvSpPr>
            <a:spLocks noGrp="1"/>
          </p:cNvSpPr>
          <p:nvPr/>
        </p:nvSpPr>
        <p:spPr>
          <a:xfrm>
            <a:off x="8020050" y="2095500"/>
            <a:ext cx="21907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18B4DE-EA16-4ECF-93D4-AE60ECD38DC6}"/>
              </a:ext>
            </a:extLst>
          </p:cNvPr>
          <p:cNvSpPr>
            <a:spLocks noGrp="1"/>
          </p:cNvSpPr>
          <p:nvPr/>
        </p:nvSpPr>
        <p:spPr>
          <a:xfrm>
            <a:off x="8324850" y="2590800"/>
            <a:ext cx="1581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-1.81 dB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24BD55-FEA2-4751-BBDE-C0CAEE934582}"/>
              </a:ext>
            </a:extLst>
          </p:cNvPr>
          <p:cNvSpPr>
            <a:spLocks noGrp="1"/>
          </p:cNvSpPr>
          <p:nvPr/>
        </p:nvSpPr>
        <p:spPr>
          <a:xfrm>
            <a:off x="8305800" y="3143250"/>
            <a:ext cx="1619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PSNR decrease</a:t>
            </a:r>
          </a:p>
          <a:p>
            <a:pPr algn="ctr">
              <a:defRPr sz="1125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from AF=4 to AF=8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906DF4-3BB4-43FA-98E0-58647C86D09B}"/>
              </a:ext>
            </a:extLst>
          </p:cNvPr>
          <p:cNvSpPr>
            <a:spLocks noGrp="1"/>
          </p:cNvSpPr>
          <p:nvPr/>
        </p:nvSpPr>
        <p:spPr>
          <a:xfrm>
            <a:off x="1371600" y="497205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As acceleration increases, fewer measurements are available and reconstruction quality decreases.</a:t>
            </a:r>
          </a:p>
        </p:txBody>
      </p:sp>
    </p:spTree>
    <p:extLst>
      <p:ext uri="{BB962C8B-B14F-4D97-AF65-F5344CB8AC3E}">
        <p14:creationId xmlns:p14="http://schemas.microsoft.com/office/powerpoint/2010/main" val="1571274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04A3531-D680-4DC1-B6B6-F65F822A6B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4B7B5B-1192-471E-9E6B-826152A35F33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RESULTS AND 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05976-943E-422E-AE09-5825A51CEBB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F989D-971D-4C88-960A-CC38CBC06C63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Qualitative results: ReconFormer suppresses most zero-filled artifacts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0AAA0-1D1D-4DE5-BA44-88CB07369EAB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236220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7402" y="1866900"/>
            <a:ext cx="1738997" cy="18478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81D851-5982-4D61-B8C8-623E8A680D58}"/>
              </a:ext>
            </a:extLst>
          </p:cNvPr>
          <p:cNvSpPr>
            <a:spLocks noGrp="1"/>
          </p:cNvSpPr>
          <p:nvPr/>
        </p:nvSpPr>
        <p:spPr>
          <a:xfrm>
            <a:off x="800100" y="37719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AF=4 zero-filled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0D547-90EB-47E3-8F37-328F02A6210C}"/>
              </a:ext>
            </a:extLst>
          </p:cNvPr>
          <p:cNvSpPr>
            <a:spLocks noGrp="1"/>
          </p:cNvSpPr>
          <p:nvPr/>
        </p:nvSpPr>
        <p:spPr>
          <a:xfrm>
            <a:off x="3295650" y="1771650"/>
            <a:ext cx="236220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07252" y="1866900"/>
            <a:ext cx="1738997" cy="1847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E0AE49-84DB-4A19-ACF0-C67517651D35}"/>
              </a:ext>
            </a:extLst>
          </p:cNvPr>
          <p:cNvSpPr>
            <a:spLocks noGrp="1"/>
          </p:cNvSpPr>
          <p:nvPr/>
        </p:nvSpPr>
        <p:spPr>
          <a:xfrm>
            <a:off x="3409950" y="37719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AF=4 ReconFormer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F21DBE-7AE9-4E8C-B0D4-934256429D2A}"/>
              </a:ext>
            </a:extLst>
          </p:cNvPr>
          <p:cNvSpPr>
            <a:spLocks noGrp="1"/>
          </p:cNvSpPr>
          <p:nvPr/>
        </p:nvSpPr>
        <p:spPr>
          <a:xfrm>
            <a:off x="5905500" y="1771650"/>
            <a:ext cx="236220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17102" y="1866900"/>
            <a:ext cx="1738997" cy="18478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7E647C-3203-4588-B02B-65CABB37D4E9}"/>
              </a:ext>
            </a:extLst>
          </p:cNvPr>
          <p:cNvSpPr>
            <a:spLocks noGrp="1"/>
          </p:cNvSpPr>
          <p:nvPr/>
        </p:nvSpPr>
        <p:spPr>
          <a:xfrm>
            <a:off x="6019800" y="37719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AF=8 zero-filled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16DE1-213A-4084-8CEF-712818426B85}"/>
              </a:ext>
            </a:extLst>
          </p:cNvPr>
          <p:cNvSpPr>
            <a:spLocks noGrp="1"/>
          </p:cNvSpPr>
          <p:nvPr/>
        </p:nvSpPr>
        <p:spPr>
          <a:xfrm>
            <a:off x="8515350" y="1771650"/>
            <a:ext cx="236220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26952" y="1866900"/>
            <a:ext cx="1738997" cy="18478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DACB21-DF19-4182-8873-026283CCDEC7}"/>
              </a:ext>
            </a:extLst>
          </p:cNvPr>
          <p:cNvSpPr>
            <a:spLocks noGrp="1"/>
          </p:cNvSpPr>
          <p:nvPr/>
        </p:nvSpPr>
        <p:spPr>
          <a:xfrm>
            <a:off x="8629650" y="377190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AF=8 ReconFormer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6EE572-1631-4B38-866A-A1DA0569B224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048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Zero-filled reconstructions show stronger aliasing and blur at AF=8. ReconFormer recovers the main anatomical structures at both acceleration factors, with remaining errors mainly near fine boundaries.</a:t>
            </a:r>
          </a:p>
        </p:txBody>
      </p:sp>
    </p:spTree>
    <p:extLst>
      <p:ext uri="{BB962C8B-B14F-4D97-AF65-F5344CB8AC3E}">
        <p14:creationId xmlns:p14="http://schemas.microsoft.com/office/powerpoint/2010/main" val="1878829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7AFEC43-1FCD-4E11-8A29-F869ED9C9F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93B9A-8D52-48B7-87C1-AC9D65F8907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F6972"/>
                </a:solidFill>
                <a:latin typeface="Aptos"/>
                <a:ea typeface="Aptos"/>
                <a:cs typeface="Aptos"/>
              </a:rPr>
              <a:t>RESULTS AND 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D2FD51-2E23-4331-A873-8A32ACF351D9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60960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9D31A-DB0D-4BF5-B033-054BD7F41BF3}"/>
              </a:ext>
            </a:extLst>
          </p:cNvPr>
          <p:cNvSpPr>
            <a:spLocks noGrp="1"/>
          </p:cNvSpPr>
          <p:nvPr/>
        </p:nvSpPr>
        <p:spPr>
          <a:xfrm>
            <a:off x="533400" y="8572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CNN comparison and project limitations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161E0-B305-4462-89AD-6EE8A1E13F6F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A5D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A5DA8"/>
                </a:solidFill>
                <a:latin typeface="Aptos"/>
                <a:ea typeface="Aptos"/>
                <a:cs typeface="Aptos"/>
              </a:rPr>
              <a:t>D5C5 reference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B91CB-AC38-4CFD-9FD8-616BB4A6BF86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25B24-45F1-4F85-89ED-A9EA5099BA40}"/>
              </a:ext>
            </a:extLst>
          </p:cNvPr>
          <p:cNvSpPr>
            <a:spLocks noGrp="1"/>
          </p:cNvSpPr>
          <p:nvPr/>
        </p:nvSpPr>
        <p:spPr>
          <a:xfrm>
            <a:off x="1028700" y="2552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A5DA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3A5DA8"/>
                </a:solidFill>
                <a:latin typeface="Georgia"/>
                <a:ea typeface="Georgia"/>
                <a:cs typeface="Georgia"/>
              </a:rPr>
              <a:t>+0.48 dB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24C522-949C-4B23-8664-6CE3C5AD7E52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ReconFormer PSNR advantage at AF=4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830D04-4360-4505-A30A-2A204AD455C2}"/>
              </a:ext>
            </a:extLst>
          </p:cNvPr>
          <p:cNvSpPr>
            <a:spLocks noGrp="1"/>
          </p:cNvSpPr>
          <p:nvPr/>
        </p:nvSpPr>
        <p:spPr>
          <a:xfrm>
            <a:off x="3600450" y="2381250"/>
            <a:ext cx="23812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3DCCB4-CF46-4EB9-BB15-C3D79762F8EF}"/>
              </a:ext>
            </a:extLst>
          </p:cNvPr>
          <p:cNvSpPr>
            <a:spLocks noGrp="1"/>
          </p:cNvSpPr>
          <p:nvPr/>
        </p:nvSpPr>
        <p:spPr>
          <a:xfrm>
            <a:off x="3752850" y="25527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B85C38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38"/>
                </a:solidFill>
                <a:latin typeface="Georgia"/>
                <a:ea typeface="Georgia"/>
                <a:cs typeface="Georgia"/>
              </a:rPr>
              <a:t>+1.24 dB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DC5412-0F46-43D7-A157-9EC29ED063B5}"/>
              </a:ext>
            </a:extLst>
          </p:cNvPr>
          <p:cNvSpPr>
            <a:spLocks noGrp="1"/>
          </p:cNvSpPr>
          <p:nvPr/>
        </p:nvSpPr>
        <p:spPr>
          <a:xfrm>
            <a:off x="3752850" y="295275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9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972"/>
                </a:solidFill>
                <a:latin typeface="Aptos"/>
                <a:ea typeface="Aptos"/>
                <a:cs typeface="Aptos"/>
              </a:rPr>
              <a:t>ReconFormer PSNR advantage at AF=8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36B5F1-3461-4D6F-886E-392E895A4408}"/>
              </a:ext>
            </a:extLst>
          </p:cNvPr>
          <p:cNvSpPr>
            <a:spLocks noGrp="1"/>
          </p:cNvSpPr>
          <p:nvPr/>
        </p:nvSpPr>
        <p:spPr>
          <a:xfrm>
            <a:off x="6667500" y="1847850"/>
            <a:ext cx="3429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AB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D89B47-6035-495D-9E30-A61F64DCACF2}"/>
              </a:ext>
            </a:extLst>
          </p:cNvPr>
          <p:cNvSpPr>
            <a:spLocks noGrp="1"/>
          </p:cNvSpPr>
          <p:nvPr/>
        </p:nvSpPr>
        <p:spPr>
          <a:xfrm>
            <a:off x="6953250" y="21526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8BF66C-DB68-4EFB-81DF-545FF53334D2}"/>
              </a:ext>
            </a:extLst>
          </p:cNvPr>
          <p:cNvSpPr>
            <a:spLocks noGrp="1"/>
          </p:cNvSpPr>
          <p:nvPr/>
        </p:nvSpPr>
        <p:spPr>
          <a:xfrm>
            <a:off x="6972300" y="26955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FACB9-FB50-4679-972C-D4316FA8E744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24860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Used pre-trained weights rather than training from scratch.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9ABE55-182A-4A2D-89DC-3834CF82DA5A}"/>
              </a:ext>
            </a:extLst>
          </p:cNvPr>
          <p:cNvSpPr>
            <a:spLocks noGrp="1"/>
          </p:cNvSpPr>
          <p:nvPr/>
        </p:nvSpPr>
        <p:spPr>
          <a:xfrm>
            <a:off x="6972300" y="31146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0895DD-32B0-4860-8B39-5520924A2425}"/>
              </a:ext>
            </a:extLst>
          </p:cNvPr>
          <p:cNvSpPr>
            <a:spLocks noGrp="1"/>
          </p:cNvSpPr>
          <p:nvPr/>
        </p:nvSpPr>
        <p:spPr>
          <a:xfrm>
            <a:off x="7200900" y="3048000"/>
            <a:ext cx="24860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Evaluated a 30-scan subset instead of the full validation set.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AA42ED-B770-4ED9-8B65-8B3285ABEA2E}"/>
              </a:ext>
            </a:extLst>
          </p:cNvPr>
          <p:cNvSpPr>
            <a:spLocks noGrp="1"/>
          </p:cNvSpPr>
          <p:nvPr/>
        </p:nvSpPr>
        <p:spPr>
          <a:xfrm>
            <a:off x="6972300" y="35337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E4898D-F34E-462C-80F5-08A318B9D853}"/>
              </a:ext>
            </a:extLst>
          </p:cNvPr>
          <p:cNvSpPr>
            <a:spLocks noGrp="1"/>
          </p:cNvSpPr>
          <p:nvPr/>
        </p:nvSpPr>
        <p:spPr>
          <a:xfrm>
            <a:off x="7200900" y="3467100"/>
            <a:ext cx="24860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Did not independently reproduce all CNN baselines.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E28F9C-701A-4F48-AA4D-5F92B5BD61C5}"/>
              </a:ext>
            </a:extLst>
          </p:cNvPr>
          <p:cNvSpPr>
            <a:spLocks noGrp="1"/>
          </p:cNvSpPr>
          <p:nvPr/>
        </p:nvSpPr>
        <p:spPr>
          <a:xfrm>
            <a:off x="6972300" y="39528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3FCF41-A523-4A82-ACBA-1E52FBC70FBE}"/>
              </a:ext>
            </a:extLst>
          </p:cNvPr>
          <p:cNvSpPr>
            <a:spLocks noGrp="1"/>
          </p:cNvSpPr>
          <p:nvPr/>
        </p:nvSpPr>
        <p:spPr>
          <a:xfrm>
            <a:off x="7200900" y="3886200"/>
            <a:ext cx="24860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Experiments were limited to single-coil knee MRI.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583951-A99E-4BC3-94BA-B57710779B00}"/>
              </a:ext>
            </a:extLst>
          </p:cNvPr>
          <p:cNvSpPr>
            <a:spLocks noGrp="1"/>
          </p:cNvSpPr>
          <p:nvPr/>
        </p:nvSpPr>
        <p:spPr>
          <a:xfrm>
            <a:off x="1200150" y="5067300"/>
            <a:ext cx="8572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comparison suggests that the Transformer-based architecture is especially useful when under-sampling is more severe.</a:t>
            </a:r>
          </a:p>
        </p:txBody>
      </p:sp>
    </p:spTree>
    <p:extLst>
      <p:ext uri="{BB962C8B-B14F-4D97-AF65-F5344CB8AC3E}">
        <p14:creationId xmlns:p14="http://schemas.microsoft.com/office/powerpoint/2010/main" val="1540606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E26352-3856-4318-A75F-C85353B4A5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E078DE-9BDD-4F6C-AFDA-24F5DD006EF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666750" cy="4762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6A0DF-705E-4F86-A2CD-5C098F6D7BCD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723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BAC15-19C7-43D2-8F33-484EDC930C1E}"/>
              </a:ext>
            </a:extLst>
          </p:cNvPr>
          <p:cNvSpPr>
            <a:spLocks noGrp="1"/>
          </p:cNvSpPr>
          <p:nvPr/>
        </p:nvSpPr>
        <p:spPr>
          <a:xfrm>
            <a:off x="914400" y="23145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78DFC8-29CD-479B-A7DE-F2168F27B600}"/>
              </a:ext>
            </a:extLst>
          </p:cNvPr>
          <p:cNvSpPr>
            <a:spLocks noGrp="1"/>
          </p:cNvSpPr>
          <p:nvPr/>
        </p:nvSpPr>
        <p:spPr>
          <a:xfrm>
            <a:off x="1143000" y="2247900"/>
            <a:ext cx="8343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ReconFormer substantially improves image quality compared with zero-filled reconstruction.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F57F52-2EFB-435A-9030-A3E1400F8480}"/>
              </a:ext>
            </a:extLst>
          </p:cNvPr>
          <p:cNvSpPr>
            <a:spLocks noGrp="1"/>
          </p:cNvSpPr>
          <p:nvPr/>
        </p:nvSpPr>
        <p:spPr>
          <a:xfrm>
            <a:off x="914400" y="294322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30947A-8263-4113-9C37-9E0B8A7B8FB7}"/>
              </a:ext>
            </a:extLst>
          </p:cNvPr>
          <p:cNvSpPr>
            <a:spLocks noGrp="1"/>
          </p:cNvSpPr>
          <p:nvPr/>
        </p:nvSpPr>
        <p:spPr>
          <a:xfrm>
            <a:off x="1143000" y="2876550"/>
            <a:ext cx="8343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AF=8 is more challenging than AF=4, and the quantitative metrics reflect this expected trend.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2C804C-534D-4673-816C-AB9E8DBD8175}"/>
              </a:ext>
            </a:extLst>
          </p:cNvPr>
          <p:cNvSpPr>
            <a:spLocks noGrp="1"/>
          </p:cNvSpPr>
          <p:nvPr/>
        </p:nvSpPr>
        <p:spPr>
          <a:xfrm>
            <a:off x="914400" y="357187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C8D713-7AA4-41FD-8E1B-B7244552F59D}"/>
              </a:ext>
            </a:extLst>
          </p:cNvPr>
          <p:cNvSpPr>
            <a:spLocks noGrp="1"/>
          </p:cNvSpPr>
          <p:nvPr/>
        </p:nvSpPr>
        <p:spPr>
          <a:xfrm>
            <a:off x="1143000" y="3505200"/>
            <a:ext cx="8343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method combines a learned image prior with explicit k-space data consistency.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85CF21-F37A-4C18-81D3-8046EEADF280}"/>
              </a:ext>
            </a:extLst>
          </p:cNvPr>
          <p:cNvSpPr>
            <a:spLocks noGrp="1"/>
          </p:cNvSpPr>
          <p:nvPr/>
        </p:nvSpPr>
        <p:spPr>
          <a:xfrm>
            <a:off x="914400" y="4200525"/>
            <a:ext cx="76200" cy="762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FFE883-A61C-49EA-A0D5-70C307883F82}"/>
              </a:ext>
            </a:extLst>
          </p:cNvPr>
          <p:cNvSpPr>
            <a:spLocks noGrp="1"/>
          </p:cNvSpPr>
          <p:nvPr/>
        </p:nvSpPr>
        <p:spPr>
          <a:xfrm>
            <a:off x="1143000" y="4133850"/>
            <a:ext cx="8343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Our evaluation supports the main idea that recurrent Transformer-based reconstruction is effective for accelerated MRI.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026A4D-359F-4378-94E5-7B2A42150376}"/>
              </a:ext>
            </a:extLst>
          </p:cNvPr>
          <p:cNvSpPr>
            <a:spLocks noGrp="1"/>
          </p:cNvSpPr>
          <p:nvPr/>
        </p:nvSpPr>
        <p:spPr>
          <a:xfrm>
            <a:off x="7524750" y="55816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100" b="1">
                <a:solidFill>
                  <a:srgbClr val="D9C9B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D9C9B9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560073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Microsoft Office PowerPoint</Application>
  <DocSecurity>0</DocSecurity>
  <PresentationFormat>Widescreen</PresentationFormat>
  <Paragraphs>178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Mono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Özgür Ekin Sönmez</cp:lastModifiedBy>
  <cp:revision>1</cp:revision>
  <dcterms:created xsi:type="dcterms:W3CDTF">2026-05-20T09:09:12Z</dcterms:created>
  <dcterms:modified xsi:type="dcterms:W3CDTF">2026-05-20T10:11:47Z</dcterms:modified>
</cp:coreProperties>
</file>